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Kaftus" charset="1" panose="00000000000000000000"/>
      <p:regular r:id="rId32"/>
    </p:embeddedFont>
    <p:embeddedFont>
      <p:font typeface="Sniglet" charset="1" panose="04070505030100020000"/>
      <p:regular r:id="rId33"/>
    </p:embeddedFont>
    <p:embeddedFont>
      <p:font typeface="Cooper BT Light" charset="1" panose="0208050304030B020404"/>
      <p:regular r:id="rId34"/>
    </p:embeddedFont>
    <p:embeddedFont>
      <p:font typeface="Cooper BT Bold" charset="1" panose="0208080404030B020404"/>
      <p:regular r:id="rId35"/>
    </p:embeddedFont>
    <p:embeddedFont>
      <p:font typeface="Canva Sans Bold" charset="1" panose="020B0803030501040103"/>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2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25.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https://github.com/Washly-go" TargetMode="External" Type="http://schemas.openxmlformats.org/officeDocument/2006/relationships/hyperlink"/><Relationship Id="rId7" Target="https://github.com/Washly-go/Washly-Go-Documentation" TargetMode="External" Type="http://schemas.openxmlformats.org/officeDocument/2006/relationships/hyperlink"/></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8.png" Type="http://schemas.openxmlformats.org/officeDocument/2006/relationships/image"/><Relationship Id="rId13"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3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618524" y="3086126"/>
            <a:ext cx="3281553" cy="8229600"/>
          </a:xfrm>
          <a:custGeom>
            <a:avLst/>
            <a:gdLst/>
            <a:ahLst/>
            <a:cxnLst/>
            <a:rect r="r" b="b" t="t" l="l"/>
            <a:pathLst>
              <a:path h="8229600" w="3281553">
                <a:moveTo>
                  <a:pt x="0" y="0"/>
                </a:moveTo>
                <a:lnTo>
                  <a:pt x="3281553" y="0"/>
                </a:lnTo>
                <a:lnTo>
                  <a:pt x="3281553"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0" y="6609168"/>
            <a:ext cx="16384206" cy="13435049"/>
          </a:xfrm>
          <a:custGeom>
            <a:avLst/>
            <a:gdLst/>
            <a:ahLst/>
            <a:cxnLst/>
            <a:rect r="r" b="b" t="t" l="l"/>
            <a:pathLst>
              <a:path h="13435049" w="16384206">
                <a:moveTo>
                  <a:pt x="0" y="0"/>
                </a:moveTo>
                <a:lnTo>
                  <a:pt x="16384206" y="0"/>
                </a:lnTo>
                <a:lnTo>
                  <a:pt x="16384206" y="13435049"/>
                </a:lnTo>
                <a:lnTo>
                  <a:pt x="0" y="13435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110927" y="1188469"/>
            <a:ext cx="8162353" cy="7910062"/>
          </a:xfrm>
          <a:custGeom>
            <a:avLst/>
            <a:gdLst/>
            <a:ahLst/>
            <a:cxnLst/>
            <a:rect r="r" b="b" t="t" l="l"/>
            <a:pathLst>
              <a:path h="7910062" w="8162353">
                <a:moveTo>
                  <a:pt x="0" y="0"/>
                </a:moveTo>
                <a:lnTo>
                  <a:pt x="8162353" y="0"/>
                </a:lnTo>
                <a:lnTo>
                  <a:pt x="8162353" y="7910062"/>
                </a:lnTo>
                <a:lnTo>
                  <a:pt x="0" y="7910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6218" y="5377535"/>
            <a:ext cx="2905802" cy="1823391"/>
          </a:xfrm>
          <a:custGeom>
            <a:avLst/>
            <a:gdLst/>
            <a:ahLst/>
            <a:cxnLst/>
            <a:rect r="r" b="b" t="t" l="l"/>
            <a:pathLst>
              <a:path h="1823391" w="2905802">
                <a:moveTo>
                  <a:pt x="0" y="0"/>
                </a:moveTo>
                <a:lnTo>
                  <a:pt x="2905802" y="0"/>
                </a:lnTo>
                <a:lnTo>
                  <a:pt x="2905802" y="1823391"/>
                </a:lnTo>
                <a:lnTo>
                  <a:pt x="0" y="1823391"/>
                </a:lnTo>
                <a:lnTo>
                  <a:pt x="0" y="0"/>
                </a:lnTo>
                <a:close/>
              </a:path>
            </a:pathLst>
          </a:custGeom>
          <a:blipFill>
            <a:blip r:embed="rId8"/>
            <a:stretch>
              <a:fillRect l="0" t="0" r="0" b="0"/>
            </a:stretch>
          </a:blipFill>
        </p:spPr>
      </p:sp>
      <p:sp>
        <p:nvSpPr>
          <p:cNvPr name="Freeform 7" id="7"/>
          <p:cNvSpPr/>
          <p:nvPr/>
        </p:nvSpPr>
        <p:spPr>
          <a:xfrm flipH="false" flipV="false" rot="0">
            <a:off x="3042953" y="5722547"/>
            <a:ext cx="1345008" cy="2057374"/>
          </a:xfrm>
          <a:custGeom>
            <a:avLst/>
            <a:gdLst/>
            <a:ahLst/>
            <a:cxnLst/>
            <a:rect r="r" b="b" t="t" l="l"/>
            <a:pathLst>
              <a:path h="2057374" w="1345008">
                <a:moveTo>
                  <a:pt x="0" y="0"/>
                </a:moveTo>
                <a:lnTo>
                  <a:pt x="1345008" y="0"/>
                </a:lnTo>
                <a:lnTo>
                  <a:pt x="1345008" y="2057373"/>
                </a:lnTo>
                <a:lnTo>
                  <a:pt x="0" y="2057373"/>
                </a:lnTo>
                <a:lnTo>
                  <a:pt x="0" y="0"/>
                </a:lnTo>
                <a:close/>
              </a:path>
            </a:pathLst>
          </a:custGeom>
          <a:blipFill>
            <a:blip r:embed="rId9"/>
            <a:stretch>
              <a:fillRect l="0" t="0" r="0" b="0"/>
            </a:stretch>
          </a:blipFill>
        </p:spPr>
      </p:sp>
      <p:sp>
        <p:nvSpPr>
          <p:cNvPr name="Freeform 8" id="8"/>
          <p:cNvSpPr/>
          <p:nvPr/>
        </p:nvSpPr>
        <p:spPr>
          <a:xfrm flipH="false" flipV="false" rot="0">
            <a:off x="0" y="-16145"/>
            <a:ext cx="6155248" cy="703333"/>
          </a:xfrm>
          <a:custGeom>
            <a:avLst/>
            <a:gdLst/>
            <a:ahLst/>
            <a:cxnLst/>
            <a:rect r="r" b="b" t="t" l="l"/>
            <a:pathLst>
              <a:path h="703333" w="6155248">
                <a:moveTo>
                  <a:pt x="0" y="0"/>
                </a:moveTo>
                <a:lnTo>
                  <a:pt x="6155248" y="0"/>
                </a:lnTo>
                <a:lnTo>
                  <a:pt x="6155248" y="703333"/>
                </a:lnTo>
                <a:lnTo>
                  <a:pt x="0" y="703333"/>
                </a:lnTo>
                <a:lnTo>
                  <a:pt x="0" y="0"/>
                </a:lnTo>
                <a:close/>
              </a:path>
            </a:pathLst>
          </a:custGeom>
          <a:blipFill>
            <a:blip r:embed="rId10"/>
            <a:stretch>
              <a:fillRect l="0" t="-6338" r="0" b="-6338"/>
            </a:stretch>
          </a:blipFill>
        </p:spPr>
      </p:sp>
      <p:sp>
        <p:nvSpPr>
          <p:cNvPr name="Freeform 9" id="9"/>
          <p:cNvSpPr/>
          <p:nvPr/>
        </p:nvSpPr>
        <p:spPr>
          <a:xfrm flipH="false" flipV="false" rot="0">
            <a:off x="6118032" y="0"/>
            <a:ext cx="6155248" cy="703333"/>
          </a:xfrm>
          <a:custGeom>
            <a:avLst/>
            <a:gdLst/>
            <a:ahLst/>
            <a:cxnLst/>
            <a:rect r="r" b="b" t="t" l="l"/>
            <a:pathLst>
              <a:path h="703333" w="6155248">
                <a:moveTo>
                  <a:pt x="0" y="0"/>
                </a:moveTo>
                <a:lnTo>
                  <a:pt x="6155248" y="0"/>
                </a:lnTo>
                <a:lnTo>
                  <a:pt x="6155248" y="703333"/>
                </a:lnTo>
                <a:lnTo>
                  <a:pt x="0" y="703333"/>
                </a:lnTo>
                <a:lnTo>
                  <a:pt x="0" y="0"/>
                </a:lnTo>
                <a:close/>
              </a:path>
            </a:pathLst>
          </a:custGeom>
          <a:blipFill>
            <a:blip r:embed="rId10"/>
            <a:stretch>
              <a:fillRect l="0" t="-6338" r="0" b="-6338"/>
            </a:stretch>
          </a:blipFill>
        </p:spPr>
      </p:sp>
      <p:sp>
        <p:nvSpPr>
          <p:cNvPr name="Freeform 10" id="10"/>
          <p:cNvSpPr/>
          <p:nvPr/>
        </p:nvSpPr>
        <p:spPr>
          <a:xfrm flipH="false" flipV="false" rot="0">
            <a:off x="12236065" y="16145"/>
            <a:ext cx="6155248" cy="703333"/>
          </a:xfrm>
          <a:custGeom>
            <a:avLst/>
            <a:gdLst/>
            <a:ahLst/>
            <a:cxnLst/>
            <a:rect r="r" b="b" t="t" l="l"/>
            <a:pathLst>
              <a:path h="703333" w="6155248">
                <a:moveTo>
                  <a:pt x="0" y="0"/>
                </a:moveTo>
                <a:lnTo>
                  <a:pt x="6155247" y="0"/>
                </a:lnTo>
                <a:lnTo>
                  <a:pt x="6155247" y="703333"/>
                </a:lnTo>
                <a:lnTo>
                  <a:pt x="0" y="703333"/>
                </a:lnTo>
                <a:lnTo>
                  <a:pt x="0" y="0"/>
                </a:lnTo>
                <a:close/>
              </a:path>
            </a:pathLst>
          </a:custGeom>
          <a:blipFill>
            <a:blip r:embed="rId10"/>
            <a:stretch>
              <a:fillRect l="0" t="-6338" r="0" b="-6338"/>
            </a:stretch>
          </a:blipFill>
        </p:spPr>
      </p:sp>
      <p:sp>
        <p:nvSpPr>
          <p:cNvPr name="AutoShape 11" id="11"/>
          <p:cNvSpPr/>
          <p:nvPr/>
        </p:nvSpPr>
        <p:spPr>
          <a:xfrm>
            <a:off x="5722695" y="4501861"/>
            <a:ext cx="4938816" cy="0"/>
          </a:xfrm>
          <a:prstGeom prst="line">
            <a:avLst/>
          </a:prstGeom>
          <a:ln cap="flat" w="38100">
            <a:solidFill>
              <a:srgbClr val="000000"/>
            </a:solidFill>
            <a:prstDash val="solid"/>
            <a:headEnd type="none" len="sm" w="sm"/>
            <a:tailEnd type="none" len="sm" w="sm"/>
          </a:ln>
        </p:spPr>
      </p:sp>
      <p:sp>
        <p:nvSpPr>
          <p:cNvPr name="TextBox 12" id="12"/>
          <p:cNvSpPr txBox="true"/>
          <p:nvPr/>
        </p:nvSpPr>
        <p:spPr>
          <a:xfrm rot="0">
            <a:off x="5407529" y="1866822"/>
            <a:ext cx="5569148" cy="2396913"/>
          </a:xfrm>
          <a:prstGeom prst="rect">
            <a:avLst/>
          </a:prstGeom>
        </p:spPr>
        <p:txBody>
          <a:bodyPr anchor="t" rtlCol="false" tIns="0" lIns="0" bIns="0" rIns="0">
            <a:spAutoFit/>
          </a:bodyPr>
          <a:lstStyle/>
          <a:p>
            <a:pPr algn="ctr">
              <a:lnSpc>
                <a:spcPts val="9111"/>
              </a:lnSpc>
            </a:pPr>
            <a:r>
              <a:rPr lang="en-US" sz="6508">
                <a:solidFill>
                  <a:srgbClr val="000000"/>
                </a:solidFill>
                <a:latin typeface="Kaftus"/>
                <a:ea typeface="Kaftus"/>
                <a:cs typeface="Kaftus"/>
                <a:sym typeface="Kaftus"/>
              </a:rPr>
              <a:t>E-LAUNDRY</a:t>
            </a:r>
          </a:p>
          <a:p>
            <a:pPr algn="ctr">
              <a:lnSpc>
                <a:spcPts val="9111"/>
              </a:lnSpc>
              <a:spcBef>
                <a:spcPct val="0"/>
              </a:spcBef>
            </a:pPr>
            <a:r>
              <a:rPr lang="en-US" sz="6508">
                <a:solidFill>
                  <a:srgbClr val="000000"/>
                </a:solidFill>
                <a:latin typeface="Kaftus"/>
                <a:ea typeface="Kaftus"/>
                <a:cs typeface="Kaftus"/>
                <a:sym typeface="Kaftus"/>
              </a:rPr>
              <a:t>WASHLY GO</a:t>
            </a:r>
          </a:p>
        </p:txBody>
      </p:sp>
      <p:sp>
        <p:nvSpPr>
          <p:cNvPr name="TextBox 13" id="13"/>
          <p:cNvSpPr txBox="true"/>
          <p:nvPr/>
        </p:nvSpPr>
        <p:spPr>
          <a:xfrm rot="0">
            <a:off x="7243324" y="4681627"/>
            <a:ext cx="1897559" cy="456103"/>
          </a:xfrm>
          <a:prstGeom prst="rect">
            <a:avLst/>
          </a:prstGeom>
        </p:spPr>
        <p:txBody>
          <a:bodyPr anchor="t" rtlCol="false" tIns="0" lIns="0" bIns="0" rIns="0">
            <a:spAutoFit/>
          </a:bodyPr>
          <a:lstStyle/>
          <a:p>
            <a:pPr algn="ctr">
              <a:lnSpc>
                <a:spcPts val="3735"/>
              </a:lnSpc>
              <a:spcBef>
                <a:spcPct val="0"/>
              </a:spcBef>
            </a:pPr>
            <a:r>
              <a:rPr lang="en-US" sz="2668">
                <a:solidFill>
                  <a:srgbClr val="000000"/>
                </a:solidFill>
                <a:latin typeface="Sniglet"/>
                <a:ea typeface="Sniglet"/>
                <a:cs typeface="Sniglet"/>
                <a:sym typeface="Sniglet"/>
              </a:rPr>
              <a:t>KELOMPOK 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43643" y="479941"/>
            <a:ext cx="17536601" cy="9807059"/>
            <a:chOff x="0" y="0"/>
            <a:chExt cx="23382134" cy="13076078"/>
          </a:xfrm>
        </p:grpSpPr>
        <p:sp>
          <p:nvSpPr>
            <p:cNvPr name="Freeform 4" id="4"/>
            <p:cNvSpPr/>
            <p:nvPr/>
          </p:nvSpPr>
          <p:spPr>
            <a:xfrm flipH="false" flipV="false" rot="0">
              <a:off x="0" y="276329"/>
              <a:ext cx="13297913" cy="12113190"/>
            </a:xfrm>
            <a:custGeom>
              <a:avLst/>
              <a:gdLst/>
              <a:ahLst/>
              <a:cxnLst/>
              <a:rect r="r" b="b" t="t" l="l"/>
              <a:pathLst>
                <a:path h="12113190" w="13297913">
                  <a:moveTo>
                    <a:pt x="0" y="0"/>
                  </a:moveTo>
                  <a:lnTo>
                    <a:pt x="13297913" y="0"/>
                  </a:lnTo>
                  <a:lnTo>
                    <a:pt x="13297913" y="12113190"/>
                  </a:lnTo>
                  <a:lnTo>
                    <a:pt x="0" y="121131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027158"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4970650" y="3782510"/>
            <a:ext cx="8082587" cy="1866213"/>
          </a:xfrm>
          <a:prstGeom prst="rect">
            <a:avLst/>
          </a:prstGeom>
        </p:spPr>
        <p:txBody>
          <a:bodyPr anchor="t" rtlCol="false" tIns="0" lIns="0" bIns="0" rIns="0">
            <a:spAutoFit/>
          </a:bodyPr>
          <a:lstStyle/>
          <a:p>
            <a:pPr algn="ctr">
              <a:lnSpc>
                <a:spcPts val="8924"/>
              </a:lnSpc>
            </a:pPr>
            <a:r>
              <a:rPr lang="en-US" sz="6374">
                <a:solidFill>
                  <a:srgbClr val="000000"/>
                </a:solidFill>
                <a:latin typeface="Kaftus"/>
                <a:ea typeface="Kaftus"/>
                <a:cs typeface="Kaftus"/>
                <a:sym typeface="Kaftus"/>
              </a:rPr>
              <a:t>Dosen Pengampu</a:t>
            </a:r>
          </a:p>
          <a:p>
            <a:pPr algn="ctr">
              <a:lnSpc>
                <a:spcPts val="4948"/>
              </a:lnSpc>
              <a:spcBef>
                <a:spcPct val="0"/>
              </a:spcBef>
            </a:pPr>
            <a:r>
              <a:rPr lang="en-US" sz="3534">
                <a:solidFill>
                  <a:srgbClr val="000000"/>
                </a:solidFill>
                <a:latin typeface="Cooper BT Light"/>
                <a:ea typeface="Cooper BT Light"/>
                <a:cs typeface="Cooper BT Light"/>
                <a:sym typeface="Cooper BT Light"/>
              </a:rPr>
              <a:t>ARNY LATTU, S.pd.Kom.,M.Kom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43643" y="479941"/>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4623742" y="2157387"/>
            <a:ext cx="9040515" cy="1244388"/>
          </a:xfrm>
          <a:prstGeom prst="rect">
            <a:avLst/>
          </a:prstGeom>
        </p:spPr>
        <p:txBody>
          <a:bodyPr anchor="t" rtlCol="false" tIns="0" lIns="0" bIns="0" rIns="0">
            <a:spAutoFit/>
          </a:bodyPr>
          <a:lstStyle/>
          <a:p>
            <a:pPr algn="ctr">
              <a:lnSpc>
                <a:spcPts val="9111"/>
              </a:lnSpc>
              <a:spcBef>
                <a:spcPct val="0"/>
              </a:spcBef>
            </a:pPr>
            <a:r>
              <a:rPr lang="en-US" sz="6508">
                <a:solidFill>
                  <a:srgbClr val="000000"/>
                </a:solidFill>
                <a:latin typeface="Kaftus"/>
                <a:ea typeface="Kaftus"/>
                <a:cs typeface="Kaftus"/>
                <a:sym typeface="Kaftus"/>
              </a:rPr>
              <a:t>Anggota Kelompok</a:t>
            </a:r>
          </a:p>
        </p:txBody>
      </p:sp>
      <p:sp>
        <p:nvSpPr>
          <p:cNvPr name="TextBox 11" id="11"/>
          <p:cNvSpPr txBox="true"/>
          <p:nvPr/>
        </p:nvSpPr>
        <p:spPr>
          <a:xfrm rot="0">
            <a:off x="3279371" y="4078648"/>
            <a:ext cx="11805457" cy="3859383"/>
          </a:xfrm>
          <a:prstGeom prst="rect">
            <a:avLst/>
          </a:prstGeom>
        </p:spPr>
        <p:txBody>
          <a:bodyPr anchor="t" rtlCol="false" tIns="0" lIns="0" bIns="0" rIns="0">
            <a:spAutoFit/>
          </a:bodyPr>
          <a:lstStyle/>
          <a:p>
            <a:pPr algn="l">
              <a:lnSpc>
                <a:spcPts val="5153"/>
              </a:lnSpc>
            </a:pPr>
            <a:r>
              <a:rPr lang="en-US" sz="3680" b="true">
                <a:solidFill>
                  <a:srgbClr val="1D454D"/>
                </a:solidFill>
                <a:latin typeface="Cooper BT Bold"/>
                <a:ea typeface="Cooper BT Bold"/>
                <a:cs typeface="Cooper BT Bold"/>
                <a:sym typeface="Cooper BT Bold"/>
              </a:rPr>
              <a:t>M</a:t>
            </a:r>
            <a:r>
              <a:rPr lang="en-US" sz="3680" b="true">
                <a:solidFill>
                  <a:srgbClr val="000000"/>
                </a:solidFill>
                <a:latin typeface="Cooper BT Bold"/>
                <a:ea typeface="Cooper BT Bold"/>
                <a:cs typeface="Cooper BT Bold"/>
                <a:sym typeface="Cooper BT Bold"/>
              </a:rPr>
              <a:t>uhammad Bilal Isha Musa          (20240050018)</a:t>
            </a:r>
          </a:p>
          <a:p>
            <a:pPr algn="l">
              <a:lnSpc>
                <a:spcPts val="5153"/>
              </a:lnSpc>
            </a:pPr>
            <a:r>
              <a:rPr lang="en-US" sz="3680" b="true">
                <a:solidFill>
                  <a:srgbClr val="000000"/>
                </a:solidFill>
                <a:latin typeface="Cooper BT Bold"/>
                <a:ea typeface="Cooper BT Bold"/>
                <a:cs typeface="Cooper BT Bold"/>
                <a:sym typeface="Cooper BT Bold"/>
              </a:rPr>
              <a:t>Geraldi Hakim Dipanegara            (20240050057)</a:t>
            </a:r>
          </a:p>
          <a:p>
            <a:pPr algn="l">
              <a:lnSpc>
                <a:spcPts val="5153"/>
              </a:lnSpc>
            </a:pPr>
            <a:r>
              <a:rPr lang="en-US" sz="3680" b="true">
                <a:solidFill>
                  <a:srgbClr val="000000"/>
                </a:solidFill>
                <a:latin typeface="Cooper BT Bold"/>
                <a:ea typeface="Cooper BT Bold"/>
                <a:cs typeface="Cooper BT Bold"/>
                <a:sym typeface="Cooper BT Bold"/>
              </a:rPr>
              <a:t>Muhammad Fikri Maulana            (20240050058)</a:t>
            </a:r>
          </a:p>
          <a:p>
            <a:pPr algn="l">
              <a:lnSpc>
                <a:spcPts val="5153"/>
              </a:lnSpc>
            </a:pPr>
            <a:r>
              <a:rPr lang="en-US" sz="3680" b="true">
                <a:solidFill>
                  <a:srgbClr val="000000"/>
                </a:solidFill>
                <a:latin typeface="Cooper BT Bold"/>
                <a:ea typeface="Cooper BT Bold"/>
                <a:cs typeface="Cooper BT Bold"/>
                <a:sym typeface="Cooper BT Bold"/>
              </a:rPr>
              <a:t>Isyania Maulidia                             (20240050128)</a:t>
            </a:r>
          </a:p>
          <a:p>
            <a:pPr algn="l">
              <a:lnSpc>
                <a:spcPts val="5153"/>
              </a:lnSpc>
            </a:pPr>
            <a:r>
              <a:rPr lang="en-US" sz="3680" b="true">
                <a:solidFill>
                  <a:srgbClr val="000000"/>
                </a:solidFill>
                <a:latin typeface="Cooper BT Bold"/>
                <a:ea typeface="Cooper BT Bold"/>
                <a:cs typeface="Cooper BT Bold"/>
                <a:sym typeface="Cooper BT Bold"/>
              </a:rPr>
              <a:t>Lya Ramadani L. Hoda                   (20240050105)</a:t>
            </a:r>
          </a:p>
          <a:p>
            <a:pPr algn="l">
              <a:lnSpc>
                <a:spcPts val="515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493232" y="865775"/>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4386114" y="1332634"/>
            <a:ext cx="9515773" cy="1244388"/>
          </a:xfrm>
          <a:prstGeom prst="rect">
            <a:avLst/>
          </a:prstGeom>
        </p:spPr>
        <p:txBody>
          <a:bodyPr anchor="t" rtlCol="false" tIns="0" lIns="0" bIns="0" rIns="0">
            <a:spAutoFit/>
          </a:bodyPr>
          <a:lstStyle/>
          <a:p>
            <a:pPr algn="ctr">
              <a:lnSpc>
                <a:spcPts val="9111"/>
              </a:lnSpc>
              <a:spcBef>
                <a:spcPct val="0"/>
              </a:spcBef>
            </a:pPr>
            <a:r>
              <a:rPr lang="en-US" sz="6508">
                <a:solidFill>
                  <a:srgbClr val="000000"/>
                </a:solidFill>
                <a:latin typeface="Kaftus"/>
                <a:ea typeface="Kaftus"/>
                <a:cs typeface="Kaftus"/>
                <a:sym typeface="Kaftus"/>
              </a:rPr>
              <a:t>Struktur Kelompok</a:t>
            </a:r>
          </a:p>
        </p:txBody>
      </p:sp>
      <p:sp>
        <p:nvSpPr>
          <p:cNvPr name="Freeform 11" id="11"/>
          <p:cNvSpPr/>
          <p:nvPr/>
        </p:nvSpPr>
        <p:spPr>
          <a:xfrm flipH="false" flipV="false" rot="0">
            <a:off x="2646224" y="3153597"/>
            <a:ext cx="12995551" cy="4666994"/>
          </a:xfrm>
          <a:custGeom>
            <a:avLst/>
            <a:gdLst/>
            <a:ahLst/>
            <a:cxnLst/>
            <a:rect r="r" b="b" t="t" l="l"/>
            <a:pathLst>
              <a:path h="4666994" w="12995551">
                <a:moveTo>
                  <a:pt x="0" y="0"/>
                </a:moveTo>
                <a:lnTo>
                  <a:pt x="12995552" y="0"/>
                </a:lnTo>
                <a:lnTo>
                  <a:pt x="12995552" y="4666994"/>
                </a:lnTo>
                <a:lnTo>
                  <a:pt x="0" y="4666994"/>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43643" y="479941"/>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5004346" y="961904"/>
            <a:ext cx="8279309" cy="1244388"/>
          </a:xfrm>
          <a:prstGeom prst="rect">
            <a:avLst/>
          </a:prstGeom>
        </p:spPr>
        <p:txBody>
          <a:bodyPr anchor="t" rtlCol="false" tIns="0" lIns="0" bIns="0" rIns="0">
            <a:spAutoFit/>
          </a:bodyPr>
          <a:lstStyle/>
          <a:p>
            <a:pPr algn="ctr">
              <a:lnSpc>
                <a:spcPts val="9111"/>
              </a:lnSpc>
              <a:spcBef>
                <a:spcPct val="0"/>
              </a:spcBef>
            </a:pPr>
            <a:r>
              <a:rPr lang="en-US" sz="6508">
                <a:solidFill>
                  <a:srgbClr val="000000"/>
                </a:solidFill>
                <a:latin typeface="Kaftus"/>
                <a:ea typeface="Kaftus"/>
                <a:cs typeface="Kaftus"/>
                <a:sym typeface="Kaftus"/>
              </a:rPr>
              <a:t>LATAR BELAKANG</a:t>
            </a:r>
          </a:p>
        </p:txBody>
      </p:sp>
      <p:sp>
        <p:nvSpPr>
          <p:cNvPr name="TextBox 11" id="11"/>
          <p:cNvSpPr txBox="true"/>
          <p:nvPr/>
        </p:nvSpPr>
        <p:spPr>
          <a:xfrm rot="0">
            <a:off x="3385082" y="2718016"/>
            <a:ext cx="11517837" cy="4803343"/>
          </a:xfrm>
          <a:prstGeom prst="rect">
            <a:avLst/>
          </a:prstGeom>
        </p:spPr>
        <p:txBody>
          <a:bodyPr anchor="t" rtlCol="false" tIns="0" lIns="0" bIns="0" rIns="0">
            <a:spAutoFit/>
          </a:bodyPr>
          <a:lstStyle/>
          <a:p>
            <a:pPr algn="just">
              <a:lnSpc>
                <a:spcPts val="3523"/>
              </a:lnSpc>
              <a:spcBef>
                <a:spcPct val="0"/>
              </a:spcBef>
            </a:pPr>
            <a:r>
              <a:rPr lang="en-US" sz="2517">
                <a:solidFill>
                  <a:srgbClr val="000000"/>
                </a:solidFill>
                <a:latin typeface="Sniglet"/>
                <a:ea typeface="Sniglet"/>
                <a:cs typeface="Sniglet"/>
                <a:sym typeface="Sniglet"/>
              </a:rPr>
              <a:t>Proses pengelol</a:t>
            </a:r>
            <a:r>
              <a:rPr lang="en-US" sz="2517">
                <a:solidFill>
                  <a:srgbClr val="000000"/>
                </a:solidFill>
                <a:latin typeface="Sniglet"/>
                <a:ea typeface="Sniglet"/>
                <a:cs typeface="Sniglet"/>
                <a:sym typeface="Sniglet"/>
              </a:rPr>
              <a:t>aan layanan laundry pada umumnya masih dilakukan secara manual, seperti pencatatan data pelanggan, pesanan, dan pembayaran. Cara tersebut berpotensi menimbulkan permasalahan, antara lain kesalahan pencatatan, keterlambatan informasi, serta kesulitan dalam memantau status pesanan laundry.</a:t>
            </a:r>
          </a:p>
          <a:p>
            <a:pPr algn="just">
              <a:lnSpc>
                <a:spcPts val="3523"/>
              </a:lnSpc>
              <a:spcBef>
                <a:spcPct val="0"/>
              </a:spcBef>
            </a:pPr>
            <a:r>
              <a:rPr lang="en-US" sz="2517">
                <a:solidFill>
                  <a:srgbClr val="000000"/>
                </a:solidFill>
                <a:latin typeface="Sniglet"/>
                <a:ea typeface="Sniglet"/>
                <a:cs typeface="Sniglet"/>
                <a:sym typeface="Sniglet"/>
              </a:rPr>
              <a:t>Oleh karena itu, diperlukan sebuah aplikasi E-Laundry yang mampu mengelola proses layanan laundry secara terkomputerisasi. Aplikasi Washly Go Laundry dikembangkan untuk membantu meningkatkan efisiensi pengelolaan layanan laundry serta memberikan kemudahan bagi pelanggan dan admin dalam menjalankan aktivitasnya.</a:t>
            </a:r>
          </a:p>
          <a:p>
            <a:pPr algn="just">
              <a:lnSpc>
                <a:spcPts val="3523"/>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43643" y="479941"/>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4522470" y="1302537"/>
            <a:ext cx="9692994" cy="763502"/>
          </a:xfrm>
          <a:prstGeom prst="rect">
            <a:avLst/>
          </a:prstGeom>
        </p:spPr>
        <p:txBody>
          <a:bodyPr anchor="t" rtlCol="false" tIns="0" lIns="0" bIns="0" rIns="0">
            <a:spAutoFit/>
          </a:bodyPr>
          <a:lstStyle/>
          <a:p>
            <a:pPr algn="ctr">
              <a:lnSpc>
                <a:spcPts val="5692"/>
              </a:lnSpc>
              <a:spcBef>
                <a:spcPct val="0"/>
              </a:spcBef>
            </a:pPr>
            <a:r>
              <a:rPr lang="en-US" sz="4065">
                <a:solidFill>
                  <a:srgbClr val="000000"/>
                </a:solidFill>
                <a:latin typeface="Kaftus"/>
                <a:ea typeface="Kaftus"/>
                <a:cs typeface="Kaftus"/>
                <a:sym typeface="Kaftus"/>
              </a:rPr>
              <a:t>Tujuan</a:t>
            </a:r>
            <a:r>
              <a:rPr lang="en-US" sz="4065">
                <a:solidFill>
                  <a:srgbClr val="000000"/>
                </a:solidFill>
                <a:latin typeface="Kaftus"/>
                <a:ea typeface="Kaftus"/>
                <a:cs typeface="Kaftus"/>
                <a:sym typeface="Kaftus"/>
              </a:rPr>
              <a:t> Pengembangan Sistem</a:t>
            </a:r>
          </a:p>
        </p:txBody>
      </p:sp>
      <p:sp>
        <p:nvSpPr>
          <p:cNvPr name="TextBox 11" id="11"/>
          <p:cNvSpPr txBox="true"/>
          <p:nvPr/>
        </p:nvSpPr>
        <p:spPr>
          <a:xfrm rot="0">
            <a:off x="1429251" y="2538370"/>
            <a:ext cx="15429497" cy="6159628"/>
          </a:xfrm>
          <a:prstGeom prst="rect">
            <a:avLst/>
          </a:prstGeom>
        </p:spPr>
        <p:txBody>
          <a:bodyPr anchor="t" rtlCol="false" tIns="0" lIns="0" bIns="0" rIns="0">
            <a:spAutoFit/>
          </a:bodyPr>
          <a:lstStyle/>
          <a:p>
            <a:pPr algn="just">
              <a:lnSpc>
                <a:spcPts val="4892"/>
              </a:lnSpc>
              <a:spcBef>
                <a:spcPct val="0"/>
              </a:spcBef>
            </a:pPr>
            <a:r>
              <a:rPr lang="en-US" sz="3494">
                <a:solidFill>
                  <a:srgbClr val="000000"/>
                </a:solidFill>
                <a:latin typeface="Sniglet"/>
                <a:ea typeface="Sniglet"/>
                <a:cs typeface="Sniglet"/>
                <a:sym typeface="Sniglet"/>
              </a:rPr>
              <a:t>Tujuan dari pengembangan a</a:t>
            </a:r>
            <a:r>
              <a:rPr lang="en-US" sz="3494">
                <a:solidFill>
                  <a:srgbClr val="000000"/>
                </a:solidFill>
                <a:latin typeface="Sniglet"/>
                <a:ea typeface="Sniglet"/>
                <a:cs typeface="Sniglet"/>
                <a:sym typeface="Sniglet"/>
              </a:rPr>
              <a:t>plikasi E-Laundry Washly Go Laundry adalah sebagai berikut:</a:t>
            </a:r>
          </a:p>
          <a:p>
            <a:pPr algn="just" marL="754564" indent="-377282" lvl="1">
              <a:lnSpc>
                <a:spcPts val="4892"/>
              </a:lnSpc>
              <a:spcBef>
                <a:spcPct val="0"/>
              </a:spcBef>
              <a:buAutoNum type="arabicPeriod" startAt="1"/>
            </a:pPr>
            <a:r>
              <a:rPr lang="en-US" sz="3494">
                <a:solidFill>
                  <a:srgbClr val="000000"/>
                </a:solidFill>
                <a:latin typeface="Sniglet"/>
                <a:ea typeface="Sniglet"/>
                <a:cs typeface="Sniglet"/>
                <a:sym typeface="Sniglet"/>
              </a:rPr>
              <a:t>Membangun aplikasi E-Laundry yang dapat mendukung proses pemesanan, pembayaran, dan pengelolaan layanan laundry secara terintegrasi.</a:t>
            </a:r>
          </a:p>
          <a:p>
            <a:pPr algn="just" marL="754564" indent="-377282" lvl="1">
              <a:lnSpc>
                <a:spcPts val="4892"/>
              </a:lnSpc>
              <a:spcBef>
                <a:spcPct val="0"/>
              </a:spcBef>
              <a:buAutoNum type="arabicPeriod" startAt="1"/>
            </a:pPr>
            <a:r>
              <a:rPr lang="en-US" sz="3494">
                <a:solidFill>
                  <a:srgbClr val="000000"/>
                </a:solidFill>
                <a:latin typeface="Sniglet"/>
                <a:ea typeface="Sniglet"/>
                <a:cs typeface="Sniglet"/>
                <a:sym typeface="Sniglet"/>
              </a:rPr>
              <a:t>Mempermudah customer dan admin dalam melakukan pengelolaan pesanan, transaksi, dan pemantauan status laundry melalui aplikasi.</a:t>
            </a:r>
          </a:p>
          <a:p>
            <a:pPr algn="just" marL="754564" indent="-377282" lvl="1">
              <a:lnSpc>
                <a:spcPts val="4892"/>
              </a:lnSpc>
              <a:spcBef>
                <a:spcPct val="0"/>
              </a:spcBef>
              <a:buAutoNum type="arabicPeriod" startAt="1"/>
            </a:pPr>
            <a:r>
              <a:rPr lang="en-US" sz="3494">
                <a:solidFill>
                  <a:srgbClr val="000000"/>
                </a:solidFill>
                <a:latin typeface="Sniglet"/>
                <a:ea typeface="Sniglet"/>
                <a:cs typeface="Sniglet"/>
                <a:sym typeface="Sniglet"/>
              </a:rPr>
              <a:t>Meningkatkan akurasi data transaksi dengan sistem pencatatan yang terpusat sehingga meminimalkan kesalahan akibat proses manual.</a:t>
            </a:r>
          </a:p>
          <a:p>
            <a:pPr algn="just">
              <a:lnSpc>
                <a:spcPts val="4892"/>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493232" y="865775"/>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4380359" y="1088864"/>
            <a:ext cx="9527282" cy="1244388"/>
          </a:xfrm>
          <a:prstGeom prst="rect">
            <a:avLst/>
          </a:prstGeom>
        </p:spPr>
        <p:txBody>
          <a:bodyPr anchor="t" rtlCol="false" tIns="0" lIns="0" bIns="0" rIns="0">
            <a:spAutoFit/>
          </a:bodyPr>
          <a:lstStyle/>
          <a:p>
            <a:pPr algn="ctr">
              <a:lnSpc>
                <a:spcPts val="9111"/>
              </a:lnSpc>
              <a:spcBef>
                <a:spcPct val="0"/>
              </a:spcBef>
            </a:pPr>
            <a:r>
              <a:rPr lang="en-US" sz="6508">
                <a:solidFill>
                  <a:srgbClr val="000000"/>
                </a:solidFill>
                <a:latin typeface="Kaftus"/>
                <a:ea typeface="Kaftus"/>
                <a:cs typeface="Kaftus"/>
                <a:sym typeface="Kaftus"/>
              </a:rPr>
              <a:t>RUMUSAN MASALAH</a:t>
            </a:r>
          </a:p>
        </p:txBody>
      </p:sp>
      <p:sp>
        <p:nvSpPr>
          <p:cNvPr name="TextBox 11" id="11"/>
          <p:cNvSpPr txBox="true"/>
          <p:nvPr/>
        </p:nvSpPr>
        <p:spPr>
          <a:xfrm rot="0">
            <a:off x="2218822" y="2521059"/>
            <a:ext cx="13850356" cy="6646587"/>
          </a:xfrm>
          <a:prstGeom prst="rect">
            <a:avLst/>
          </a:prstGeom>
        </p:spPr>
        <p:txBody>
          <a:bodyPr anchor="t" rtlCol="false" tIns="0" lIns="0" bIns="0" rIns="0">
            <a:spAutoFit/>
          </a:bodyPr>
          <a:lstStyle/>
          <a:p>
            <a:pPr algn="just">
              <a:lnSpc>
                <a:spcPts val="4392"/>
              </a:lnSpc>
              <a:spcBef>
                <a:spcPct val="0"/>
              </a:spcBef>
            </a:pPr>
            <a:r>
              <a:rPr lang="en-US" sz="3137">
                <a:solidFill>
                  <a:srgbClr val="000000"/>
                </a:solidFill>
                <a:latin typeface="Sniglet"/>
                <a:ea typeface="Sniglet"/>
                <a:cs typeface="Sniglet"/>
                <a:sym typeface="Sniglet"/>
              </a:rPr>
              <a:t>Ruang lingkup a</a:t>
            </a:r>
            <a:r>
              <a:rPr lang="en-US" sz="3137">
                <a:solidFill>
                  <a:srgbClr val="000000"/>
                </a:solidFill>
                <a:latin typeface="Sniglet"/>
                <a:ea typeface="Sniglet"/>
                <a:cs typeface="Sniglet"/>
                <a:sym typeface="Sniglet"/>
              </a:rPr>
              <a:t>plikasi E-Laundry Washly Go Laundry meliputi:</a:t>
            </a:r>
          </a:p>
          <a:p>
            <a:pPr algn="just" marL="677338" indent="-338669" lvl="1">
              <a:lnSpc>
                <a:spcPts val="4392"/>
              </a:lnSpc>
              <a:spcBef>
                <a:spcPct val="0"/>
              </a:spcBef>
              <a:buAutoNum type="arabicPeriod" startAt="1"/>
            </a:pPr>
            <a:r>
              <a:rPr lang="en-US" sz="3137">
                <a:solidFill>
                  <a:srgbClr val="000000"/>
                </a:solidFill>
                <a:latin typeface="Sniglet"/>
                <a:ea typeface="Sniglet"/>
                <a:cs typeface="Sniglet"/>
                <a:sym typeface="Sniglet"/>
              </a:rPr>
              <a:t>Login dan registrasi pengguna, yang memungkinkan customer dan admin mengakses sistem sesuai dengan hak akses masing-masing.</a:t>
            </a:r>
          </a:p>
          <a:p>
            <a:pPr algn="just" marL="677338" indent="-338669" lvl="1">
              <a:lnSpc>
                <a:spcPts val="4392"/>
              </a:lnSpc>
              <a:spcBef>
                <a:spcPct val="0"/>
              </a:spcBef>
              <a:buAutoNum type="arabicPeriod" startAt="1"/>
            </a:pPr>
            <a:r>
              <a:rPr lang="en-US" sz="3137">
                <a:solidFill>
                  <a:srgbClr val="000000"/>
                </a:solidFill>
                <a:latin typeface="Sniglet"/>
                <a:ea typeface="Sniglet"/>
                <a:cs typeface="Sniglet"/>
                <a:sym typeface="Sniglet"/>
              </a:rPr>
              <a:t>Pemesanan layanan laundry, di mana customer dapat melakukan pengajuan laundry dan mengisi detail pesanan melalui aplikasi.</a:t>
            </a:r>
          </a:p>
          <a:p>
            <a:pPr algn="just" marL="677338" indent="-338669" lvl="1">
              <a:lnSpc>
                <a:spcPts val="4392"/>
              </a:lnSpc>
              <a:spcBef>
                <a:spcPct val="0"/>
              </a:spcBef>
              <a:buAutoNum type="arabicPeriod" startAt="1"/>
            </a:pPr>
            <a:r>
              <a:rPr lang="en-US" sz="3137">
                <a:solidFill>
                  <a:srgbClr val="000000"/>
                </a:solidFill>
                <a:latin typeface="Sniglet"/>
                <a:ea typeface="Sniglet"/>
                <a:cs typeface="Sniglet"/>
                <a:sym typeface="Sniglet"/>
              </a:rPr>
              <a:t>P</a:t>
            </a:r>
            <a:r>
              <a:rPr lang="en-US" sz="3137">
                <a:solidFill>
                  <a:srgbClr val="000000"/>
                </a:solidFill>
                <a:latin typeface="Sniglet"/>
                <a:ea typeface="Sniglet"/>
                <a:cs typeface="Sniglet"/>
                <a:sym typeface="Sniglet"/>
              </a:rPr>
              <a:t>embayaran, yang mencakup proses pencatatan dan pengelolaan data pembayaran laundry.</a:t>
            </a:r>
          </a:p>
          <a:p>
            <a:pPr algn="just" marL="677338" indent="-338669" lvl="1">
              <a:lnSpc>
                <a:spcPts val="4392"/>
              </a:lnSpc>
              <a:spcBef>
                <a:spcPct val="0"/>
              </a:spcBef>
              <a:buAutoNum type="arabicPeriod" startAt="1"/>
            </a:pPr>
            <a:r>
              <a:rPr lang="en-US" sz="3137">
                <a:solidFill>
                  <a:srgbClr val="000000"/>
                </a:solidFill>
                <a:latin typeface="Sniglet"/>
                <a:ea typeface="Sniglet"/>
                <a:cs typeface="Sniglet"/>
                <a:sym typeface="Sniglet"/>
              </a:rPr>
              <a:t>Monitoring status pesanan, yang memungkinkan customer mengetahui perkembangan status laundry yang sedang diproses.</a:t>
            </a:r>
          </a:p>
          <a:p>
            <a:pPr algn="just" marL="677338" indent="-338669" lvl="1">
              <a:lnSpc>
                <a:spcPts val="4392"/>
              </a:lnSpc>
              <a:spcBef>
                <a:spcPct val="0"/>
              </a:spcBef>
              <a:buAutoNum type="arabicPeriod" startAt="1"/>
            </a:pPr>
            <a:r>
              <a:rPr lang="en-US" sz="3137">
                <a:solidFill>
                  <a:srgbClr val="000000"/>
                </a:solidFill>
                <a:latin typeface="Sniglet"/>
                <a:ea typeface="Sniglet"/>
                <a:cs typeface="Sniglet"/>
                <a:sym typeface="Sniglet"/>
              </a:rPr>
              <a:t>Manajemen data oleh admin, meliputi pengelolaan data pelanggan, pesanan, pembayaran, serta pembaruan status laundry.</a:t>
            </a:r>
          </a:p>
          <a:p>
            <a:pPr algn="just">
              <a:lnSpc>
                <a:spcPts val="4392"/>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43643" y="479941"/>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5659937" y="1143507"/>
            <a:ext cx="6962180" cy="763502"/>
          </a:xfrm>
          <a:prstGeom prst="rect">
            <a:avLst/>
          </a:prstGeom>
        </p:spPr>
        <p:txBody>
          <a:bodyPr anchor="t" rtlCol="false" tIns="0" lIns="0" bIns="0" rIns="0">
            <a:spAutoFit/>
          </a:bodyPr>
          <a:lstStyle/>
          <a:p>
            <a:pPr algn="ctr">
              <a:lnSpc>
                <a:spcPts val="5692"/>
              </a:lnSpc>
              <a:spcBef>
                <a:spcPct val="0"/>
              </a:spcBef>
            </a:pPr>
            <a:r>
              <a:rPr lang="en-US" sz="4065">
                <a:solidFill>
                  <a:srgbClr val="000000"/>
                </a:solidFill>
                <a:latin typeface="Kaftus"/>
                <a:ea typeface="Kaftus"/>
                <a:cs typeface="Kaftus"/>
                <a:sym typeface="Kaftus"/>
              </a:rPr>
              <a:t>ER</a:t>
            </a:r>
            <a:r>
              <a:rPr lang="en-US" sz="4065">
                <a:solidFill>
                  <a:srgbClr val="000000"/>
                </a:solidFill>
                <a:latin typeface="Kaftus"/>
                <a:ea typeface="Kaftus"/>
                <a:cs typeface="Kaftus"/>
                <a:sym typeface="Kaftus"/>
              </a:rPr>
              <a:t>D Logical Data Model</a:t>
            </a:r>
          </a:p>
        </p:txBody>
      </p:sp>
      <p:sp>
        <p:nvSpPr>
          <p:cNvPr name="Freeform 11" id="11"/>
          <p:cNvSpPr/>
          <p:nvPr/>
        </p:nvSpPr>
        <p:spPr>
          <a:xfrm flipH="false" flipV="false" rot="0">
            <a:off x="3437378" y="2341749"/>
            <a:ext cx="11407298" cy="6916551"/>
          </a:xfrm>
          <a:custGeom>
            <a:avLst/>
            <a:gdLst/>
            <a:ahLst/>
            <a:cxnLst/>
            <a:rect r="r" b="b" t="t" l="l"/>
            <a:pathLst>
              <a:path h="6916551" w="11407298">
                <a:moveTo>
                  <a:pt x="0" y="0"/>
                </a:moveTo>
                <a:lnTo>
                  <a:pt x="11407298" y="0"/>
                </a:lnTo>
                <a:lnTo>
                  <a:pt x="11407298" y="6916551"/>
                </a:lnTo>
                <a:lnTo>
                  <a:pt x="0" y="6916551"/>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43643" y="272694"/>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6934451" y="895350"/>
            <a:ext cx="4413151" cy="654916"/>
          </a:xfrm>
          <a:prstGeom prst="rect">
            <a:avLst/>
          </a:prstGeom>
        </p:spPr>
        <p:txBody>
          <a:bodyPr anchor="t" rtlCol="false" tIns="0" lIns="0" bIns="0" rIns="0">
            <a:spAutoFit/>
          </a:bodyPr>
          <a:lstStyle/>
          <a:p>
            <a:pPr algn="ctr">
              <a:lnSpc>
                <a:spcPts val="4852"/>
              </a:lnSpc>
              <a:spcBef>
                <a:spcPct val="0"/>
              </a:spcBef>
            </a:pPr>
            <a:r>
              <a:rPr lang="en-US" sz="3465">
                <a:solidFill>
                  <a:srgbClr val="000000"/>
                </a:solidFill>
                <a:latin typeface="Kaftus"/>
                <a:ea typeface="Kaftus"/>
                <a:cs typeface="Kaftus"/>
                <a:sym typeface="Kaftus"/>
              </a:rPr>
              <a:t>Diagram Konteks</a:t>
            </a:r>
          </a:p>
        </p:txBody>
      </p:sp>
      <p:sp>
        <p:nvSpPr>
          <p:cNvPr name="Freeform 11" id="11"/>
          <p:cNvSpPr/>
          <p:nvPr/>
        </p:nvSpPr>
        <p:spPr>
          <a:xfrm flipH="false" flipV="false" rot="0">
            <a:off x="3644339" y="2052649"/>
            <a:ext cx="10993374" cy="6181702"/>
          </a:xfrm>
          <a:custGeom>
            <a:avLst/>
            <a:gdLst/>
            <a:ahLst/>
            <a:cxnLst/>
            <a:rect r="r" b="b" t="t" l="l"/>
            <a:pathLst>
              <a:path h="6181702" w="10993374">
                <a:moveTo>
                  <a:pt x="0" y="0"/>
                </a:moveTo>
                <a:lnTo>
                  <a:pt x="10993375" y="0"/>
                </a:lnTo>
                <a:lnTo>
                  <a:pt x="10993375" y="6181702"/>
                </a:lnTo>
                <a:lnTo>
                  <a:pt x="0" y="6181702"/>
                </a:lnTo>
                <a:lnTo>
                  <a:pt x="0" y="0"/>
                </a:lnTo>
                <a:close/>
              </a:path>
            </a:pathLst>
          </a:custGeom>
          <a:blipFill>
            <a:blip r:embed="rId6"/>
            <a:stretch>
              <a:fillRect l="0" t="-314" r="0" b="-314"/>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43643" y="479941"/>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Freeform 10" id="10"/>
          <p:cNvSpPr/>
          <p:nvPr/>
        </p:nvSpPr>
        <p:spPr>
          <a:xfrm flipH="false" flipV="false" rot="0">
            <a:off x="4089486" y="2281066"/>
            <a:ext cx="10103081" cy="6412055"/>
          </a:xfrm>
          <a:custGeom>
            <a:avLst/>
            <a:gdLst/>
            <a:ahLst/>
            <a:cxnLst/>
            <a:rect r="r" b="b" t="t" l="l"/>
            <a:pathLst>
              <a:path h="6412055" w="10103081">
                <a:moveTo>
                  <a:pt x="0" y="0"/>
                </a:moveTo>
                <a:lnTo>
                  <a:pt x="10103081" y="0"/>
                </a:lnTo>
                <a:lnTo>
                  <a:pt x="10103081" y="6412056"/>
                </a:lnTo>
                <a:lnTo>
                  <a:pt x="0" y="6412056"/>
                </a:lnTo>
                <a:lnTo>
                  <a:pt x="0" y="0"/>
                </a:lnTo>
                <a:close/>
              </a:path>
            </a:pathLst>
          </a:custGeom>
          <a:blipFill>
            <a:blip r:embed="rId6"/>
            <a:stretch>
              <a:fillRect l="0" t="0" r="0" b="0"/>
            </a:stretch>
          </a:blipFill>
        </p:spPr>
      </p:sp>
      <p:sp>
        <p:nvSpPr>
          <p:cNvPr name="TextBox 11" id="11"/>
          <p:cNvSpPr txBox="true"/>
          <p:nvPr/>
        </p:nvSpPr>
        <p:spPr>
          <a:xfrm rot="0">
            <a:off x="2768916" y="1111491"/>
            <a:ext cx="13089961" cy="909049"/>
          </a:xfrm>
          <a:prstGeom prst="rect">
            <a:avLst/>
          </a:prstGeom>
        </p:spPr>
        <p:txBody>
          <a:bodyPr anchor="t" rtlCol="false" tIns="0" lIns="0" bIns="0" rIns="0">
            <a:spAutoFit/>
          </a:bodyPr>
          <a:lstStyle/>
          <a:p>
            <a:pPr algn="ctr">
              <a:lnSpc>
                <a:spcPts val="7469"/>
              </a:lnSpc>
            </a:pPr>
            <a:r>
              <a:rPr lang="en-US" b="true" sz="5335">
                <a:solidFill>
                  <a:srgbClr val="000000"/>
                </a:solidFill>
                <a:latin typeface="Cooper BT Bold"/>
                <a:ea typeface="Cooper BT Bold"/>
                <a:cs typeface="Cooper BT Bold"/>
                <a:sym typeface="Cooper BT Bold"/>
              </a:rPr>
              <a:t>DFD Level 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43643" y="479941"/>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3056685" y="1713624"/>
            <a:ext cx="12168684" cy="763502"/>
          </a:xfrm>
          <a:prstGeom prst="rect">
            <a:avLst/>
          </a:prstGeom>
        </p:spPr>
        <p:txBody>
          <a:bodyPr anchor="t" rtlCol="false" tIns="0" lIns="0" bIns="0" rIns="0">
            <a:spAutoFit/>
          </a:bodyPr>
          <a:lstStyle/>
          <a:p>
            <a:pPr algn="ctr">
              <a:lnSpc>
                <a:spcPts val="5692"/>
              </a:lnSpc>
              <a:spcBef>
                <a:spcPct val="0"/>
              </a:spcBef>
            </a:pPr>
            <a:r>
              <a:rPr lang="en-US" sz="4065">
                <a:solidFill>
                  <a:srgbClr val="000000"/>
                </a:solidFill>
                <a:latin typeface="Kaftus"/>
                <a:ea typeface="Kaftus"/>
                <a:cs typeface="Kaftus"/>
                <a:sym typeface="Kaftus"/>
              </a:rPr>
              <a:t>DFD Level 1 – Proses Pemesanan Laundry</a:t>
            </a:r>
          </a:p>
        </p:txBody>
      </p:sp>
      <p:sp>
        <p:nvSpPr>
          <p:cNvPr name="Freeform 11" id="11"/>
          <p:cNvSpPr/>
          <p:nvPr/>
        </p:nvSpPr>
        <p:spPr>
          <a:xfrm flipH="false" flipV="false" rot="0">
            <a:off x="2008986" y="3354594"/>
            <a:ext cx="14289078" cy="4265000"/>
          </a:xfrm>
          <a:custGeom>
            <a:avLst/>
            <a:gdLst/>
            <a:ahLst/>
            <a:cxnLst/>
            <a:rect r="r" b="b" t="t" l="l"/>
            <a:pathLst>
              <a:path h="4265000" w="14289078">
                <a:moveTo>
                  <a:pt x="0" y="0"/>
                </a:moveTo>
                <a:lnTo>
                  <a:pt x="14289078" y="0"/>
                </a:lnTo>
                <a:lnTo>
                  <a:pt x="14289078" y="4265000"/>
                </a:lnTo>
                <a:lnTo>
                  <a:pt x="0" y="4265000"/>
                </a:lnTo>
                <a:lnTo>
                  <a:pt x="0" y="0"/>
                </a:lnTo>
                <a:close/>
              </a:path>
            </a:pathLst>
          </a:custGeom>
          <a:blipFill>
            <a:blip r:embed="rId6"/>
            <a:stretch>
              <a:fillRect l="-616" t="0" r="-616"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243643" y="687188"/>
            <a:ext cx="10766232" cy="9807059"/>
          </a:xfrm>
          <a:custGeom>
            <a:avLst/>
            <a:gdLst/>
            <a:ahLst/>
            <a:cxnLst/>
            <a:rect r="r" b="b" t="t" l="l"/>
            <a:pathLst>
              <a:path h="9807059" w="10766232">
                <a:moveTo>
                  <a:pt x="0" y="0"/>
                </a:moveTo>
                <a:lnTo>
                  <a:pt x="10766232" y="0"/>
                </a:lnTo>
                <a:lnTo>
                  <a:pt x="10766232" y="9807059"/>
                </a:lnTo>
                <a:lnTo>
                  <a:pt x="0" y="98070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272178" y="479941"/>
            <a:ext cx="10766232" cy="9807059"/>
          </a:xfrm>
          <a:custGeom>
            <a:avLst/>
            <a:gdLst/>
            <a:ahLst/>
            <a:cxnLst/>
            <a:rect r="r" b="b" t="t" l="l"/>
            <a:pathLst>
              <a:path h="9807059" w="10766232">
                <a:moveTo>
                  <a:pt x="0" y="0"/>
                </a:moveTo>
                <a:lnTo>
                  <a:pt x="10766233" y="0"/>
                </a:lnTo>
                <a:lnTo>
                  <a:pt x="10766233" y="9807059"/>
                </a:lnTo>
                <a:lnTo>
                  <a:pt x="0" y="98070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07757" y="514919"/>
            <a:ext cx="1041887" cy="1027561"/>
          </a:xfrm>
          <a:custGeom>
            <a:avLst/>
            <a:gdLst/>
            <a:ahLst/>
            <a:cxnLst/>
            <a:rect r="r" b="b" t="t" l="l"/>
            <a:pathLst>
              <a:path h="1027561" w="1041887">
                <a:moveTo>
                  <a:pt x="0" y="0"/>
                </a:moveTo>
                <a:lnTo>
                  <a:pt x="1041886" y="0"/>
                </a:lnTo>
                <a:lnTo>
                  <a:pt x="1041886" y="1027562"/>
                </a:lnTo>
                <a:lnTo>
                  <a:pt x="0" y="1027562"/>
                </a:lnTo>
                <a:lnTo>
                  <a:pt x="0" y="0"/>
                </a:lnTo>
                <a:close/>
              </a:path>
            </a:pathLst>
          </a:custGeom>
          <a:blipFill>
            <a:blip r:embed="rId5"/>
            <a:stretch>
              <a:fillRect l="0" t="0" r="0" b="0"/>
            </a:stretch>
          </a:blipFill>
        </p:spPr>
      </p:sp>
      <p:sp>
        <p:nvSpPr>
          <p:cNvPr name="Freeform 6" id="6"/>
          <p:cNvSpPr/>
          <p:nvPr/>
        </p:nvSpPr>
        <p:spPr>
          <a:xfrm flipH="false" flipV="false" rot="0">
            <a:off x="16738357" y="479941"/>
            <a:ext cx="1041887" cy="1027561"/>
          </a:xfrm>
          <a:custGeom>
            <a:avLst/>
            <a:gdLst/>
            <a:ahLst/>
            <a:cxnLst/>
            <a:rect r="r" b="b" t="t" l="l"/>
            <a:pathLst>
              <a:path h="1027561" w="1041887">
                <a:moveTo>
                  <a:pt x="0" y="0"/>
                </a:moveTo>
                <a:lnTo>
                  <a:pt x="1041886" y="0"/>
                </a:lnTo>
                <a:lnTo>
                  <a:pt x="1041886" y="1027561"/>
                </a:lnTo>
                <a:lnTo>
                  <a:pt x="0" y="1027561"/>
                </a:lnTo>
                <a:lnTo>
                  <a:pt x="0" y="0"/>
                </a:lnTo>
                <a:close/>
              </a:path>
            </a:pathLst>
          </a:custGeom>
          <a:blipFill>
            <a:blip r:embed="rId5"/>
            <a:stretch>
              <a:fillRect l="0" t="0" r="0" b="0"/>
            </a:stretch>
          </a:blipFill>
        </p:spPr>
      </p:sp>
      <p:sp>
        <p:nvSpPr>
          <p:cNvPr name="Freeform 7" id="7"/>
          <p:cNvSpPr/>
          <p:nvPr/>
        </p:nvSpPr>
        <p:spPr>
          <a:xfrm flipH="false" flipV="false" rot="0">
            <a:off x="16738357" y="8744519"/>
            <a:ext cx="1041887" cy="1027561"/>
          </a:xfrm>
          <a:custGeom>
            <a:avLst/>
            <a:gdLst/>
            <a:ahLst/>
            <a:cxnLst/>
            <a:rect r="r" b="b" t="t" l="l"/>
            <a:pathLst>
              <a:path h="1027561" w="1041887">
                <a:moveTo>
                  <a:pt x="0" y="0"/>
                </a:moveTo>
                <a:lnTo>
                  <a:pt x="1041886" y="0"/>
                </a:lnTo>
                <a:lnTo>
                  <a:pt x="1041886" y="1027562"/>
                </a:lnTo>
                <a:lnTo>
                  <a:pt x="0" y="1027562"/>
                </a:lnTo>
                <a:lnTo>
                  <a:pt x="0" y="0"/>
                </a:lnTo>
                <a:close/>
              </a:path>
            </a:pathLst>
          </a:custGeom>
          <a:blipFill>
            <a:blip r:embed="rId5"/>
            <a:stretch>
              <a:fillRect l="0" t="0" r="0" b="0"/>
            </a:stretch>
          </a:blipFill>
        </p:spPr>
      </p:sp>
      <p:sp>
        <p:nvSpPr>
          <p:cNvPr name="Freeform 8" id="8"/>
          <p:cNvSpPr/>
          <p:nvPr/>
        </p:nvSpPr>
        <p:spPr>
          <a:xfrm flipH="false" flipV="false" rot="0">
            <a:off x="507757" y="8744519"/>
            <a:ext cx="1041887" cy="1027561"/>
          </a:xfrm>
          <a:custGeom>
            <a:avLst/>
            <a:gdLst/>
            <a:ahLst/>
            <a:cxnLst/>
            <a:rect r="r" b="b" t="t" l="l"/>
            <a:pathLst>
              <a:path h="1027561" w="1041887">
                <a:moveTo>
                  <a:pt x="0" y="0"/>
                </a:moveTo>
                <a:lnTo>
                  <a:pt x="1041886" y="0"/>
                </a:lnTo>
                <a:lnTo>
                  <a:pt x="1041886" y="1027562"/>
                </a:lnTo>
                <a:lnTo>
                  <a:pt x="0" y="1027562"/>
                </a:lnTo>
                <a:lnTo>
                  <a:pt x="0" y="0"/>
                </a:lnTo>
                <a:close/>
              </a:path>
            </a:pathLst>
          </a:custGeom>
          <a:blipFill>
            <a:blip r:embed="rId5"/>
            <a:stretch>
              <a:fillRect l="0" t="0" r="0" b="0"/>
            </a:stretch>
          </a:blipFill>
        </p:spPr>
      </p:sp>
      <p:sp>
        <p:nvSpPr>
          <p:cNvPr name="TextBox 9" id="9"/>
          <p:cNvSpPr txBox="true"/>
          <p:nvPr/>
        </p:nvSpPr>
        <p:spPr>
          <a:xfrm rot="0">
            <a:off x="5655571" y="1302537"/>
            <a:ext cx="6970911" cy="2192252"/>
          </a:xfrm>
          <a:prstGeom prst="rect">
            <a:avLst/>
          </a:prstGeom>
        </p:spPr>
        <p:txBody>
          <a:bodyPr anchor="t" rtlCol="false" tIns="0" lIns="0" bIns="0" rIns="0">
            <a:spAutoFit/>
          </a:bodyPr>
          <a:lstStyle/>
          <a:p>
            <a:pPr algn="ctr">
              <a:lnSpc>
                <a:spcPts val="5692"/>
              </a:lnSpc>
            </a:pPr>
            <a:r>
              <a:rPr lang="en-US" sz="4065">
                <a:solidFill>
                  <a:srgbClr val="000000"/>
                </a:solidFill>
                <a:latin typeface="Kaftus"/>
                <a:ea typeface="Kaftus"/>
                <a:cs typeface="Kaftus"/>
                <a:sym typeface="Kaftus"/>
              </a:rPr>
              <a:t>DFD Level 1 – Proses</a:t>
            </a:r>
          </a:p>
          <a:p>
            <a:pPr algn="ctr">
              <a:lnSpc>
                <a:spcPts val="5692"/>
              </a:lnSpc>
            </a:pPr>
            <a:r>
              <a:rPr lang="en-US" sz="4065">
                <a:solidFill>
                  <a:srgbClr val="000000"/>
                </a:solidFill>
                <a:latin typeface="Kaftus"/>
                <a:ea typeface="Kaftus"/>
                <a:cs typeface="Kaftus"/>
                <a:sym typeface="Kaftus"/>
              </a:rPr>
              <a:t>Pengelolaan Transaksi</a:t>
            </a:r>
          </a:p>
          <a:p>
            <a:pPr algn="ctr">
              <a:lnSpc>
                <a:spcPts val="5692"/>
              </a:lnSpc>
              <a:spcBef>
                <a:spcPct val="0"/>
              </a:spcBef>
            </a:pPr>
          </a:p>
        </p:txBody>
      </p:sp>
      <p:sp>
        <p:nvSpPr>
          <p:cNvPr name="Freeform 10" id="10"/>
          <p:cNvSpPr/>
          <p:nvPr/>
        </p:nvSpPr>
        <p:spPr>
          <a:xfrm flipH="false" flipV="false" rot="0">
            <a:off x="1762584" y="3405751"/>
            <a:ext cx="14975773" cy="3977940"/>
          </a:xfrm>
          <a:custGeom>
            <a:avLst/>
            <a:gdLst/>
            <a:ahLst/>
            <a:cxnLst/>
            <a:rect r="r" b="b" t="t" l="l"/>
            <a:pathLst>
              <a:path h="3977940" w="14975773">
                <a:moveTo>
                  <a:pt x="0" y="0"/>
                </a:moveTo>
                <a:lnTo>
                  <a:pt x="14975773" y="0"/>
                </a:lnTo>
                <a:lnTo>
                  <a:pt x="14975773" y="3977939"/>
                </a:lnTo>
                <a:lnTo>
                  <a:pt x="0" y="3977939"/>
                </a:lnTo>
                <a:lnTo>
                  <a:pt x="0" y="0"/>
                </a:lnTo>
                <a:close/>
              </a:path>
            </a:pathLst>
          </a:custGeom>
          <a:blipFill>
            <a:blip r:embed="rId6"/>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6289774" y="556919"/>
            <a:ext cx="5708452" cy="781638"/>
          </a:xfrm>
          <a:prstGeom prst="rect">
            <a:avLst/>
          </a:prstGeom>
        </p:spPr>
        <p:txBody>
          <a:bodyPr anchor="t" rtlCol="false" tIns="0" lIns="0" bIns="0" rIns="0">
            <a:spAutoFit/>
          </a:bodyPr>
          <a:lstStyle/>
          <a:p>
            <a:pPr algn="ctr">
              <a:lnSpc>
                <a:spcPts val="5742"/>
              </a:lnSpc>
              <a:spcBef>
                <a:spcPct val="0"/>
              </a:spcBef>
            </a:pPr>
            <a:r>
              <a:rPr lang="en-US" sz="4101">
                <a:solidFill>
                  <a:srgbClr val="000000"/>
                </a:solidFill>
                <a:latin typeface="Kaftus"/>
                <a:ea typeface="Kaftus"/>
                <a:cs typeface="Kaftus"/>
                <a:sym typeface="Kaftus"/>
              </a:rPr>
              <a:t>ACTIVITY DIAGRAM</a:t>
            </a:r>
          </a:p>
        </p:txBody>
      </p:sp>
      <p:sp>
        <p:nvSpPr>
          <p:cNvPr name="Freeform 4" id="4"/>
          <p:cNvSpPr/>
          <p:nvPr/>
        </p:nvSpPr>
        <p:spPr>
          <a:xfrm flipH="false" flipV="false" rot="0">
            <a:off x="7863554" y="1454937"/>
            <a:ext cx="10766232" cy="9807059"/>
          </a:xfrm>
          <a:custGeom>
            <a:avLst/>
            <a:gdLst/>
            <a:ahLst/>
            <a:cxnLst/>
            <a:rect r="r" b="b" t="t" l="l"/>
            <a:pathLst>
              <a:path h="9807059" w="10766232">
                <a:moveTo>
                  <a:pt x="0" y="0"/>
                </a:moveTo>
                <a:lnTo>
                  <a:pt x="10766233" y="0"/>
                </a:lnTo>
                <a:lnTo>
                  <a:pt x="10766233" y="9807059"/>
                </a:lnTo>
                <a:lnTo>
                  <a:pt x="0" y="98070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33026" y="1454937"/>
            <a:ext cx="10747434" cy="9789936"/>
          </a:xfrm>
          <a:custGeom>
            <a:avLst/>
            <a:gdLst/>
            <a:ahLst/>
            <a:cxnLst/>
            <a:rect r="r" b="b" t="t" l="l"/>
            <a:pathLst>
              <a:path h="9789936" w="10747434">
                <a:moveTo>
                  <a:pt x="0" y="0"/>
                </a:moveTo>
                <a:lnTo>
                  <a:pt x="10747434" y="0"/>
                </a:lnTo>
                <a:lnTo>
                  <a:pt x="10747434" y="9789936"/>
                </a:lnTo>
                <a:lnTo>
                  <a:pt x="0" y="9789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418547" y="2503429"/>
            <a:ext cx="4902211" cy="7692952"/>
          </a:xfrm>
          <a:custGeom>
            <a:avLst/>
            <a:gdLst/>
            <a:ahLst/>
            <a:cxnLst/>
            <a:rect r="r" b="b" t="t" l="l"/>
            <a:pathLst>
              <a:path h="7692952" w="4902211">
                <a:moveTo>
                  <a:pt x="0" y="0"/>
                </a:moveTo>
                <a:lnTo>
                  <a:pt x="4902210" y="0"/>
                </a:lnTo>
                <a:lnTo>
                  <a:pt x="4902210" y="7692952"/>
                </a:lnTo>
                <a:lnTo>
                  <a:pt x="0" y="7692952"/>
                </a:lnTo>
                <a:lnTo>
                  <a:pt x="0" y="0"/>
                </a:lnTo>
                <a:close/>
              </a:path>
            </a:pathLst>
          </a:custGeom>
          <a:blipFill>
            <a:blip r:embed="rId5"/>
            <a:stretch>
              <a:fillRect l="0" t="0" r="0" b="0"/>
            </a:stretch>
          </a:blipFill>
        </p:spPr>
      </p:sp>
      <p:sp>
        <p:nvSpPr>
          <p:cNvPr name="Freeform 7" id="7"/>
          <p:cNvSpPr/>
          <p:nvPr/>
        </p:nvSpPr>
        <p:spPr>
          <a:xfrm flipH="false" flipV="false" rot="0">
            <a:off x="10314408" y="2685832"/>
            <a:ext cx="5411180" cy="7345268"/>
          </a:xfrm>
          <a:custGeom>
            <a:avLst/>
            <a:gdLst/>
            <a:ahLst/>
            <a:cxnLst/>
            <a:rect r="r" b="b" t="t" l="l"/>
            <a:pathLst>
              <a:path h="7345268" w="5411180">
                <a:moveTo>
                  <a:pt x="0" y="0"/>
                </a:moveTo>
                <a:lnTo>
                  <a:pt x="5411180" y="0"/>
                </a:lnTo>
                <a:lnTo>
                  <a:pt x="5411180" y="7345269"/>
                </a:lnTo>
                <a:lnTo>
                  <a:pt x="0" y="7345269"/>
                </a:lnTo>
                <a:lnTo>
                  <a:pt x="0" y="0"/>
                </a:lnTo>
                <a:close/>
              </a:path>
            </a:pathLst>
          </a:custGeom>
          <a:blipFill>
            <a:blip r:embed="rId6"/>
            <a:stretch>
              <a:fillRect l="0" t="0" r="0" b="0"/>
            </a:stretch>
          </a:blipFill>
        </p:spPr>
      </p:sp>
      <p:sp>
        <p:nvSpPr>
          <p:cNvPr name="TextBox 8" id="8"/>
          <p:cNvSpPr txBox="true"/>
          <p:nvPr/>
        </p:nvSpPr>
        <p:spPr>
          <a:xfrm rot="0">
            <a:off x="1418547" y="1976520"/>
            <a:ext cx="4926210" cy="374417"/>
          </a:xfrm>
          <a:prstGeom prst="rect">
            <a:avLst/>
          </a:prstGeom>
        </p:spPr>
        <p:txBody>
          <a:bodyPr anchor="t" rtlCol="false" tIns="0" lIns="0" bIns="0" rIns="0">
            <a:spAutoFit/>
          </a:bodyPr>
          <a:lstStyle/>
          <a:p>
            <a:pPr algn="ctr" marL="316737" indent="-158369" lvl="1">
              <a:lnSpc>
                <a:spcPts val="1437"/>
              </a:lnSpc>
              <a:buFont typeface="Arial"/>
              <a:buChar char="•"/>
            </a:pPr>
            <a:r>
              <a:rPr lang="en-US" b="true" sz="1467">
                <a:solidFill>
                  <a:srgbClr val="1D454D"/>
                </a:solidFill>
                <a:latin typeface="Cooper BT Bold"/>
                <a:ea typeface="Cooper BT Bold"/>
                <a:cs typeface="Cooper BT Bold"/>
                <a:sym typeface="Cooper BT Bold"/>
              </a:rPr>
              <a:t>LOGIN PENGGUNA (PELANGGAN &amp; ADMIN)</a:t>
            </a:r>
          </a:p>
          <a:p>
            <a:pPr algn="ctr">
              <a:lnSpc>
                <a:spcPts val="1437"/>
              </a:lnSpc>
            </a:pPr>
          </a:p>
        </p:txBody>
      </p:sp>
      <p:sp>
        <p:nvSpPr>
          <p:cNvPr name="TextBox 9" id="9"/>
          <p:cNvSpPr txBox="true"/>
          <p:nvPr/>
        </p:nvSpPr>
        <p:spPr>
          <a:xfrm rot="0">
            <a:off x="10314408" y="2178016"/>
            <a:ext cx="4695104" cy="416032"/>
          </a:xfrm>
          <a:prstGeom prst="rect">
            <a:avLst/>
          </a:prstGeom>
        </p:spPr>
        <p:txBody>
          <a:bodyPr anchor="t" rtlCol="false" tIns="0" lIns="0" bIns="0" rIns="0">
            <a:spAutoFit/>
          </a:bodyPr>
          <a:lstStyle/>
          <a:p>
            <a:pPr algn="ctr" marL="349445" indent="-174722" lvl="1">
              <a:lnSpc>
                <a:spcPts val="1586"/>
              </a:lnSpc>
              <a:buFont typeface="Arial"/>
              <a:buChar char="•"/>
            </a:pPr>
            <a:r>
              <a:rPr lang="en-US" b="true" sz="1618">
                <a:solidFill>
                  <a:srgbClr val="1D454D"/>
                </a:solidFill>
                <a:latin typeface="Cooper BT Bold"/>
                <a:ea typeface="Cooper BT Bold"/>
                <a:cs typeface="Cooper BT Bold"/>
                <a:sym typeface="Cooper BT Bold"/>
              </a:rPr>
              <a:t>Activity Diagram – Registrasi Pelanggan</a:t>
            </a:r>
          </a:p>
          <a:p>
            <a:pPr algn="ctr">
              <a:lnSpc>
                <a:spcPts val="1586"/>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493232" y="0"/>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6289774" y="556919"/>
            <a:ext cx="5708452" cy="781638"/>
          </a:xfrm>
          <a:prstGeom prst="rect">
            <a:avLst/>
          </a:prstGeom>
        </p:spPr>
        <p:txBody>
          <a:bodyPr anchor="t" rtlCol="false" tIns="0" lIns="0" bIns="0" rIns="0">
            <a:spAutoFit/>
          </a:bodyPr>
          <a:lstStyle/>
          <a:p>
            <a:pPr algn="ctr">
              <a:lnSpc>
                <a:spcPts val="5742"/>
              </a:lnSpc>
              <a:spcBef>
                <a:spcPct val="0"/>
              </a:spcBef>
            </a:pPr>
            <a:r>
              <a:rPr lang="en-US" sz="4101">
                <a:solidFill>
                  <a:srgbClr val="000000"/>
                </a:solidFill>
                <a:latin typeface="Kaftus"/>
                <a:ea typeface="Kaftus"/>
                <a:cs typeface="Kaftus"/>
                <a:sym typeface="Kaftus"/>
              </a:rPr>
              <a:t>ACTIVITY DIAGRAM</a:t>
            </a:r>
          </a:p>
        </p:txBody>
      </p:sp>
      <p:sp>
        <p:nvSpPr>
          <p:cNvPr name="TextBox 11" id="11"/>
          <p:cNvSpPr txBox="true"/>
          <p:nvPr/>
        </p:nvSpPr>
        <p:spPr>
          <a:xfrm rot="0">
            <a:off x="1516340" y="1779375"/>
            <a:ext cx="6286801" cy="443865"/>
          </a:xfrm>
          <a:prstGeom prst="rect">
            <a:avLst/>
          </a:prstGeom>
        </p:spPr>
        <p:txBody>
          <a:bodyPr anchor="t" rtlCol="false" tIns="0" lIns="0" bIns="0" rIns="0">
            <a:spAutoFit/>
          </a:bodyPr>
          <a:lstStyle/>
          <a:p>
            <a:pPr algn="l" marL="518160" indent="-259080" lvl="1">
              <a:lnSpc>
                <a:spcPts val="3359"/>
              </a:lnSpc>
              <a:spcBef>
                <a:spcPct val="0"/>
              </a:spcBef>
              <a:buFont typeface="Arial"/>
              <a:buChar char="•"/>
            </a:pPr>
            <a:r>
              <a:rPr lang="en-US" sz="2400">
                <a:solidFill>
                  <a:srgbClr val="000000"/>
                </a:solidFill>
                <a:latin typeface="Kaftus"/>
                <a:ea typeface="Kaftus"/>
                <a:cs typeface="Kaftus"/>
                <a:sym typeface="Kaftus"/>
              </a:rPr>
              <a:t>Activity Diagram – Pemesanan</a:t>
            </a:r>
          </a:p>
        </p:txBody>
      </p:sp>
      <p:sp>
        <p:nvSpPr>
          <p:cNvPr name="TextBox 12" id="12"/>
          <p:cNvSpPr txBox="true"/>
          <p:nvPr/>
        </p:nvSpPr>
        <p:spPr>
          <a:xfrm rot="0">
            <a:off x="8652219" y="1748895"/>
            <a:ext cx="6521361" cy="862965"/>
          </a:xfrm>
          <a:prstGeom prst="rect">
            <a:avLst/>
          </a:prstGeom>
        </p:spPr>
        <p:txBody>
          <a:bodyPr anchor="t" rtlCol="false" tIns="0" lIns="0" bIns="0" rIns="0">
            <a:spAutoFit/>
          </a:bodyPr>
          <a:lstStyle/>
          <a:p>
            <a:pPr algn="ctr" marL="518160" indent="-259080" lvl="1">
              <a:lnSpc>
                <a:spcPts val="3359"/>
              </a:lnSpc>
              <a:spcBef>
                <a:spcPct val="0"/>
              </a:spcBef>
              <a:buFont typeface="Arial"/>
              <a:buChar char="•"/>
            </a:pPr>
            <a:r>
              <a:rPr lang="en-US" sz="2400">
                <a:solidFill>
                  <a:srgbClr val="000000"/>
                </a:solidFill>
                <a:latin typeface="Kaftus"/>
                <a:ea typeface="Kaftus"/>
                <a:cs typeface="Kaftus"/>
                <a:sym typeface="Kaftus"/>
              </a:rPr>
              <a:t>Activity Diagram – Pembayaran Laundry</a:t>
            </a:r>
          </a:p>
        </p:txBody>
      </p:sp>
      <p:sp>
        <p:nvSpPr>
          <p:cNvPr name="Freeform 13" id="13"/>
          <p:cNvSpPr/>
          <p:nvPr/>
        </p:nvSpPr>
        <p:spPr>
          <a:xfrm flipH="false" flipV="false" rot="0">
            <a:off x="3094612" y="2432790"/>
            <a:ext cx="2782525" cy="7581516"/>
          </a:xfrm>
          <a:custGeom>
            <a:avLst/>
            <a:gdLst/>
            <a:ahLst/>
            <a:cxnLst/>
            <a:rect r="r" b="b" t="t" l="l"/>
            <a:pathLst>
              <a:path h="7581516" w="2782525">
                <a:moveTo>
                  <a:pt x="0" y="0"/>
                </a:moveTo>
                <a:lnTo>
                  <a:pt x="2782525" y="0"/>
                </a:lnTo>
                <a:lnTo>
                  <a:pt x="2782525" y="7581516"/>
                </a:lnTo>
                <a:lnTo>
                  <a:pt x="0" y="7581516"/>
                </a:lnTo>
                <a:lnTo>
                  <a:pt x="0" y="0"/>
                </a:lnTo>
                <a:close/>
              </a:path>
            </a:pathLst>
          </a:custGeom>
          <a:blipFill>
            <a:blip r:embed="rId6"/>
            <a:stretch>
              <a:fillRect l="0" t="0" r="0" b="0"/>
            </a:stretch>
          </a:blipFill>
        </p:spPr>
      </p:sp>
      <p:sp>
        <p:nvSpPr>
          <p:cNvPr name="Freeform 14" id="14"/>
          <p:cNvSpPr/>
          <p:nvPr/>
        </p:nvSpPr>
        <p:spPr>
          <a:xfrm flipH="false" flipV="false" rot="0">
            <a:off x="9422268" y="2654426"/>
            <a:ext cx="5151916" cy="7359879"/>
          </a:xfrm>
          <a:custGeom>
            <a:avLst/>
            <a:gdLst/>
            <a:ahLst/>
            <a:cxnLst/>
            <a:rect r="r" b="b" t="t" l="l"/>
            <a:pathLst>
              <a:path h="7359879" w="5151916">
                <a:moveTo>
                  <a:pt x="0" y="0"/>
                </a:moveTo>
                <a:lnTo>
                  <a:pt x="5151916" y="0"/>
                </a:lnTo>
                <a:lnTo>
                  <a:pt x="5151916" y="7359880"/>
                </a:lnTo>
                <a:lnTo>
                  <a:pt x="0" y="7359880"/>
                </a:lnTo>
                <a:lnTo>
                  <a:pt x="0" y="0"/>
                </a:lnTo>
                <a:close/>
              </a:path>
            </a:pathLst>
          </a:custGeom>
          <a:blipFill>
            <a:blip r:embed="rId7"/>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57437" y="0"/>
            <a:ext cx="17709410" cy="10389258"/>
            <a:chOff x="0" y="0"/>
            <a:chExt cx="23612547" cy="13852344"/>
          </a:xfrm>
        </p:grpSpPr>
        <p:sp>
          <p:nvSpPr>
            <p:cNvPr name="Freeform 4" id="4"/>
            <p:cNvSpPr/>
            <p:nvPr/>
          </p:nvSpPr>
          <p:spPr>
            <a:xfrm flipH="false" flipV="false" rot="0">
              <a:off x="0" y="546574"/>
              <a:ext cx="14607133" cy="13305770"/>
            </a:xfrm>
            <a:custGeom>
              <a:avLst/>
              <a:gdLst/>
              <a:ahLst/>
              <a:cxnLst/>
              <a:rect r="r" b="b" t="t" l="l"/>
              <a:pathLst>
                <a:path h="13305770" w="14607133">
                  <a:moveTo>
                    <a:pt x="0" y="0"/>
                  </a:moveTo>
                  <a:lnTo>
                    <a:pt x="14607133" y="0"/>
                  </a:lnTo>
                  <a:lnTo>
                    <a:pt x="14607133" y="13305770"/>
                  </a:lnTo>
                  <a:lnTo>
                    <a:pt x="0" y="13305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019229" y="0"/>
              <a:ext cx="14593318" cy="13293186"/>
            </a:xfrm>
            <a:custGeom>
              <a:avLst/>
              <a:gdLst/>
              <a:ahLst/>
              <a:cxnLst/>
              <a:rect r="r" b="b" t="t" l="l"/>
              <a:pathLst>
                <a:path h="13293186" w="14593318">
                  <a:moveTo>
                    <a:pt x="0" y="0"/>
                  </a:moveTo>
                  <a:lnTo>
                    <a:pt x="14593318" y="0"/>
                  </a:lnTo>
                  <a:lnTo>
                    <a:pt x="14593318" y="13293186"/>
                  </a:lnTo>
                  <a:lnTo>
                    <a:pt x="0" y="13293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0" y="263745"/>
              <a:ext cx="1389183" cy="1370081"/>
            </a:xfrm>
            <a:custGeom>
              <a:avLst/>
              <a:gdLst/>
              <a:ahLst/>
              <a:cxnLst/>
              <a:rect r="r" b="b" t="t" l="l"/>
              <a:pathLst>
                <a:path h="1370081" w="1389183">
                  <a:moveTo>
                    <a:pt x="0" y="0"/>
                  </a:moveTo>
                  <a:lnTo>
                    <a:pt x="1389183" y="0"/>
                  </a:lnTo>
                  <a:lnTo>
                    <a:pt x="1389183" y="1370082"/>
                  </a:lnTo>
                  <a:lnTo>
                    <a:pt x="0" y="1370082"/>
                  </a:lnTo>
                  <a:lnTo>
                    <a:pt x="0" y="0"/>
                  </a:lnTo>
                  <a:close/>
                </a:path>
              </a:pathLst>
            </a:custGeom>
            <a:blipFill>
              <a:blip r:embed="rId5"/>
              <a:stretch>
                <a:fillRect l="0" t="0" r="0" b="0"/>
              </a:stretch>
            </a:blipFill>
          </p:spPr>
        </p:sp>
        <p:sp>
          <p:nvSpPr>
            <p:cNvPr name="Freeform 7" id="7"/>
            <p:cNvSpPr/>
            <p:nvPr/>
          </p:nvSpPr>
          <p:spPr>
            <a:xfrm flipH="false" flipV="false" rot="0">
              <a:off x="21640800" y="217108"/>
              <a:ext cx="1389183" cy="1370081"/>
            </a:xfrm>
            <a:custGeom>
              <a:avLst/>
              <a:gdLst/>
              <a:ahLst/>
              <a:cxnLst/>
              <a:rect r="r" b="b" t="t" l="l"/>
              <a:pathLst>
                <a:path h="1370081" w="1389183">
                  <a:moveTo>
                    <a:pt x="0" y="0"/>
                  </a:moveTo>
                  <a:lnTo>
                    <a:pt x="1389183" y="0"/>
                  </a:lnTo>
                  <a:lnTo>
                    <a:pt x="1389183"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640800" y="11236545"/>
              <a:ext cx="1389183" cy="1370081"/>
            </a:xfrm>
            <a:custGeom>
              <a:avLst/>
              <a:gdLst/>
              <a:ahLst/>
              <a:cxnLst/>
              <a:rect r="r" b="b" t="t" l="l"/>
              <a:pathLst>
                <a:path h="1370081" w="1389183">
                  <a:moveTo>
                    <a:pt x="0" y="0"/>
                  </a:moveTo>
                  <a:lnTo>
                    <a:pt x="1389183" y="0"/>
                  </a:lnTo>
                  <a:lnTo>
                    <a:pt x="1389183" y="1370082"/>
                  </a:lnTo>
                  <a:lnTo>
                    <a:pt x="0" y="1370082"/>
                  </a:lnTo>
                  <a:lnTo>
                    <a:pt x="0" y="0"/>
                  </a:lnTo>
                  <a:close/>
                </a:path>
              </a:pathLst>
            </a:custGeom>
            <a:blipFill>
              <a:blip r:embed="rId5"/>
              <a:stretch>
                <a:fillRect l="0" t="0" r="0" b="0"/>
              </a:stretch>
            </a:blipFill>
          </p:spPr>
        </p:sp>
        <p:sp>
          <p:nvSpPr>
            <p:cNvPr name="Freeform 9" id="9"/>
            <p:cNvSpPr/>
            <p:nvPr/>
          </p:nvSpPr>
          <p:spPr>
            <a:xfrm flipH="false" flipV="false" rot="0">
              <a:off x="0" y="11236545"/>
              <a:ext cx="1389183" cy="1370081"/>
            </a:xfrm>
            <a:custGeom>
              <a:avLst/>
              <a:gdLst/>
              <a:ahLst/>
              <a:cxnLst/>
              <a:rect r="r" b="b" t="t" l="l"/>
              <a:pathLst>
                <a:path h="1370081" w="1389183">
                  <a:moveTo>
                    <a:pt x="0" y="0"/>
                  </a:moveTo>
                  <a:lnTo>
                    <a:pt x="1389183" y="0"/>
                  </a:lnTo>
                  <a:lnTo>
                    <a:pt x="1389183" y="1370082"/>
                  </a:lnTo>
                  <a:lnTo>
                    <a:pt x="0" y="1370082"/>
                  </a:lnTo>
                  <a:lnTo>
                    <a:pt x="0" y="0"/>
                  </a:lnTo>
                  <a:close/>
                </a:path>
              </a:pathLst>
            </a:custGeom>
            <a:blipFill>
              <a:blip r:embed="rId5"/>
              <a:stretch>
                <a:fillRect l="0" t="0" r="0" b="0"/>
              </a:stretch>
            </a:blipFill>
          </p:spPr>
        </p:sp>
      </p:grpSp>
      <p:sp>
        <p:nvSpPr>
          <p:cNvPr name="Freeform 10" id="10"/>
          <p:cNvSpPr/>
          <p:nvPr/>
        </p:nvSpPr>
        <p:spPr>
          <a:xfrm flipH="false" flipV="false" rot="0">
            <a:off x="4572670" y="2148100"/>
            <a:ext cx="9315470" cy="7826604"/>
          </a:xfrm>
          <a:custGeom>
            <a:avLst/>
            <a:gdLst/>
            <a:ahLst/>
            <a:cxnLst/>
            <a:rect r="r" b="b" t="t" l="l"/>
            <a:pathLst>
              <a:path h="7826604" w="9315470">
                <a:moveTo>
                  <a:pt x="0" y="0"/>
                </a:moveTo>
                <a:lnTo>
                  <a:pt x="9315470" y="0"/>
                </a:lnTo>
                <a:lnTo>
                  <a:pt x="9315470" y="7826604"/>
                </a:lnTo>
                <a:lnTo>
                  <a:pt x="0" y="7826604"/>
                </a:lnTo>
                <a:lnTo>
                  <a:pt x="0" y="0"/>
                </a:lnTo>
                <a:close/>
              </a:path>
            </a:pathLst>
          </a:custGeom>
          <a:blipFill>
            <a:blip r:embed="rId6"/>
            <a:stretch>
              <a:fillRect l="0" t="0" r="0" b="0"/>
            </a:stretch>
          </a:blipFill>
        </p:spPr>
      </p:sp>
      <p:sp>
        <p:nvSpPr>
          <p:cNvPr name="TextBox 11" id="11"/>
          <p:cNvSpPr txBox="true"/>
          <p:nvPr/>
        </p:nvSpPr>
        <p:spPr>
          <a:xfrm rot="0">
            <a:off x="6231865" y="556919"/>
            <a:ext cx="5997079" cy="781638"/>
          </a:xfrm>
          <a:prstGeom prst="rect">
            <a:avLst/>
          </a:prstGeom>
        </p:spPr>
        <p:txBody>
          <a:bodyPr anchor="t" rtlCol="false" tIns="0" lIns="0" bIns="0" rIns="0">
            <a:spAutoFit/>
          </a:bodyPr>
          <a:lstStyle/>
          <a:p>
            <a:pPr algn="ctr">
              <a:lnSpc>
                <a:spcPts val="5742"/>
              </a:lnSpc>
              <a:spcBef>
                <a:spcPct val="0"/>
              </a:spcBef>
            </a:pPr>
            <a:r>
              <a:rPr lang="en-US" sz="4101">
                <a:solidFill>
                  <a:srgbClr val="000000"/>
                </a:solidFill>
                <a:latin typeface="Kaftus"/>
                <a:ea typeface="Kaftus"/>
                <a:cs typeface="Kaftus"/>
                <a:sym typeface="Kaftus"/>
              </a:rPr>
              <a:t>SEQUENCE DIAGRAM</a:t>
            </a:r>
          </a:p>
        </p:txBody>
      </p:sp>
      <p:sp>
        <p:nvSpPr>
          <p:cNvPr name="TextBox 12" id="12"/>
          <p:cNvSpPr txBox="true"/>
          <p:nvPr/>
        </p:nvSpPr>
        <p:spPr>
          <a:xfrm rot="0">
            <a:off x="7435835" y="1397299"/>
            <a:ext cx="3589139" cy="579351"/>
          </a:xfrm>
          <a:prstGeom prst="rect">
            <a:avLst/>
          </a:prstGeom>
        </p:spPr>
        <p:txBody>
          <a:bodyPr anchor="t" rtlCol="false" tIns="0" lIns="0" bIns="0" rIns="0">
            <a:spAutoFit/>
          </a:bodyPr>
          <a:lstStyle/>
          <a:p>
            <a:pPr algn="ctr">
              <a:lnSpc>
                <a:spcPts val="4292"/>
              </a:lnSpc>
              <a:spcBef>
                <a:spcPct val="0"/>
              </a:spcBef>
            </a:pPr>
            <a:r>
              <a:rPr lang="en-US" sz="3065">
                <a:solidFill>
                  <a:srgbClr val="000000"/>
                </a:solidFill>
                <a:latin typeface="Kaftus"/>
                <a:ea typeface="Kaftus"/>
                <a:cs typeface="Kaftus"/>
                <a:sym typeface="Kaftus"/>
              </a:rPr>
              <a:t>Login Lengguna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43643" y="479941"/>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6142487" y="866775"/>
            <a:ext cx="5997079" cy="781638"/>
          </a:xfrm>
          <a:prstGeom prst="rect">
            <a:avLst/>
          </a:prstGeom>
        </p:spPr>
        <p:txBody>
          <a:bodyPr anchor="t" rtlCol="false" tIns="0" lIns="0" bIns="0" rIns="0">
            <a:spAutoFit/>
          </a:bodyPr>
          <a:lstStyle/>
          <a:p>
            <a:pPr algn="ctr">
              <a:lnSpc>
                <a:spcPts val="5742"/>
              </a:lnSpc>
              <a:spcBef>
                <a:spcPct val="0"/>
              </a:spcBef>
            </a:pPr>
            <a:r>
              <a:rPr lang="en-US" sz="4101">
                <a:solidFill>
                  <a:srgbClr val="000000"/>
                </a:solidFill>
                <a:latin typeface="Kaftus"/>
                <a:ea typeface="Kaftus"/>
                <a:cs typeface="Kaftus"/>
                <a:sym typeface="Kaftus"/>
              </a:rPr>
              <a:t>SEQUENCE DIAGRAM</a:t>
            </a:r>
          </a:p>
        </p:txBody>
      </p:sp>
      <p:sp>
        <p:nvSpPr>
          <p:cNvPr name="TextBox 11" id="11"/>
          <p:cNvSpPr txBox="true"/>
          <p:nvPr/>
        </p:nvSpPr>
        <p:spPr>
          <a:xfrm rot="0">
            <a:off x="6601870" y="1534113"/>
            <a:ext cx="5078313" cy="579351"/>
          </a:xfrm>
          <a:prstGeom prst="rect">
            <a:avLst/>
          </a:prstGeom>
        </p:spPr>
        <p:txBody>
          <a:bodyPr anchor="t" rtlCol="false" tIns="0" lIns="0" bIns="0" rIns="0">
            <a:spAutoFit/>
          </a:bodyPr>
          <a:lstStyle/>
          <a:p>
            <a:pPr algn="ctr">
              <a:lnSpc>
                <a:spcPts val="4292"/>
              </a:lnSpc>
              <a:spcBef>
                <a:spcPct val="0"/>
              </a:spcBef>
            </a:pPr>
            <a:r>
              <a:rPr lang="en-US" sz="3065">
                <a:solidFill>
                  <a:srgbClr val="000000"/>
                </a:solidFill>
                <a:latin typeface="Kaftus"/>
                <a:ea typeface="Kaftus"/>
                <a:cs typeface="Kaftus"/>
                <a:sym typeface="Kaftus"/>
              </a:rPr>
              <a:t>Pemesanan Pelanggan</a:t>
            </a:r>
          </a:p>
        </p:txBody>
      </p:sp>
      <p:sp>
        <p:nvSpPr>
          <p:cNvPr name="Freeform 12" id="12"/>
          <p:cNvSpPr/>
          <p:nvPr/>
        </p:nvSpPr>
        <p:spPr>
          <a:xfrm flipH="false" flipV="false" rot="0">
            <a:off x="1849266" y="2479075"/>
            <a:ext cx="14583521" cy="6016038"/>
          </a:xfrm>
          <a:custGeom>
            <a:avLst/>
            <a:gdLst/>
            <a:ahLst/>
            <a:cxnLst/>
            <a:rect r="r" b="b" t="t" l="l"/>
            <a:pathLst>
              <a:path h="6016038" w="14583521">
                <a:moveTo>
                  <a:pt x="0" y="0"/>
                </a:moveTo>
                <a:lnTo>
                  <a:pt x="14583521" y="0"/>
                </a:lnTo>
                <a:lnTo>
                  <a:pt x="14583521" y="6016038"/>
                </a:lnTo>
                <a:lnTo>
                  <a:pt x="0" y="6016038"/>
                </a:lnTo>
                <a:lnTo>
                  <a:pt x="0" y="0"/>
                </a:lnTo>
                <a:close/>
              </a:path>
            </a:pathLst>
          </a:custGeom>
          <a:blipFill>
            <a:blip r:embed="rId6"/>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01357" y="0"/>
            <a:ext cx="18162642" cy="10177137"/>
            <a:chOff x="0" y="0"/>
            <a:chExt cx="24216855" cy="13569515"/>
          </a:xfrm>
        </p:grpSpPr>
        <p:sp>
          <p:nvSpPr>
            <p:cNvPr name="Freeform 4" id="4"/>
            <p:cNvSpPr/>
            <p:nvPr/>
          </p:nvSpPr>
          <p:spPr>
            <a:xfrm flipH="false" flipV="false" rot="0">
              <a:off x="0" y="263745"/>
              <a:ext cx="14607133" cy="13305770"/>
            </a:xfrm>
            <a:custGeom>
              <a:avLst/>
              <a:gdLst/>
              <a:ahLst/>
              <a:cxnLst/>
              <a:rect r="r" b="b" t="t" l="l"/>
              <a:pathLst>
                <a:path h="13305770" w="14607133">
                  <a:moveTo>
                    <a:pt x="0" y="0"/>
                  </a:moveTo>
                  <a:lnTo>
                    <a:pt x="14607133" y="0"/>
                  </a:lnTo>
                  <a:lnTo>
                    <a:pt x="14607133" y="13305770"/>
                  </a:lnTo>
                  <a:lnTo>
                    <a:pt x="0" y="13305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623538" y="0"/>
              <a:ext cx="14593318" cy="13293186"/>
            </a:xfrm>
            <a:custGeom>
              <a:avLst/>
              <a:gdLst/>
              <a:ahLst/>
              <a:cxnLst/>
              <a:rect r="r" b="b" t="t" l="l"/>
              <a:pathLst>
                <a:path h="13293186" w="14593318">
                  <a:moveTo>
                    <a:pt x="0" y="0"/>
                  </a:moveTo>
                  <a:lnTo>
                    <a:pt x="14593317" y="0"/>
                  </a:lnTo>
                  <a:lnTo>
                    <a:pt x="14593317" y="13293186"/>
                  </a:lnTo>
                  <a:lnTo>
                    <a:pt x="0" y="13293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04309" y="263745"/>
              <a:ext cx="1389183" cy="1370081"/>
            </a:xfrm>
            <a:custGeom>
              <a:avLst/>
              <a:gdLst/>
              <a:ahLst/>
              <a:cxnLst/>
              <a:rect r="r" b="b" t="t" l="l"/>
              <a:pathLst>
                <a:path h="1370081" w="1389183">
                  <a:moveTo>
                    <a:pt x="0" y="0"/>
                  </a:moveTo>
                  <a:lnTo>
                    <a:pt x="1389182" y="0"/>
                  </a:lnTo>
                  <a:lnTo>
                    <a:pt x="1389182" y="1370082"/>
                  </a:lnTo>
                  <a:lnTo>
                    <a:pt x="0" y="1370082"/>
                  </a:lnTo>
                  <a:lnTo>
                    <a:pt x="0" y="0"/>
                  </a:lnTo>
                  <a:close/>
                </a:path>
              </a:pathLst>
            </a:custGeom>
            <a:blipFill>
              <a:blip r:embed="rId5"/>
              <a:stretch>
                <a:fillRect l="0" t="0" r="0" b="0"/>
              </a:stretch>
            </a:blipFill>
          </p:spPr>
        </p:sp>
        <p:sp>
          <p:nvSpPr>
            <p:cNvPr name="Freeform 7" id="7"/>
            <p:cNvSpPr/>
            <p:nvPr/>
          </p:nvSpPr>
          <p:spPr>
            <a:xfrm flipH="false" flipV="false" rot="0">
              <a:off x="22245109" y="21710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2245109" y="11236545"/>
              <a:ext cx="1389183" cy="1370081"/>
            </a:xfrm>
            <a:custGeom>
              <a:avLst/>
              <a:gdLst/>
              <a:ahLst/>
              <a:cxnLst/>
              <a:rect r="r" b="b" t="t" l="l"/>
              <a:pathLst>
                <a:path h="1370081" w="1389183">
                  <a:moveTo>
                    <a:pt x="0" y="0"/>
                  </a:moveTo>
                  <a:lnTo>
                    <a:pt x="1389182" y="0"/>
                  </a:lnTo>
                  <a:lnTo>
                    <a:pt x="1389182" y="1370082"/>
                  </a:lnTo>
                  <a:lnTo>
                    <a:pt x="0" y="1370082"/>
                  </a:lnTo>
                  <a:lnTo>
                    <a:pt x="0" y="0"/>
                  </a:lnTo>
                  <a:close/>
                </a:path>
              </a:pathLst>
            </a:custGeom>
            <a:blipFill>
              <a:blip r:embed="rId5"/>
              <a:stretch>
                <a:fillRect l="0" t="0" r="0" b="0"/>
              </a:stretch>
            </a:blipFill>
          </p:spPr>
        </p:sp>
        <p:sp>
          <p:nvSpPr>
            <p:cNvPr name="Freeform 9" id="9"/>
            <p:cNvSpPr/>
            <p:nvPr/>
          </p:nvSpPr>
          <p:spPr>
            <a:xfrm flipH="false" flipV="false" rot="0">
              <a:off x="604309" y="11236545"/>
              <a:ext cx="1389183" cy="1370081"/>
            </a:xfrm>
            <a:custGeom>
              <a:avLst/>
              <a:gdLst/>
              <a:ahLst/>
              <a:cxnLst/>
              <a:rect r="r" b="b" t="t" l="l"/>
              <a:pathLst>
                <a:path h="1370081" w="1389183">
                  <a:moveTo>
                    <a:pt x="0" y="0"/>
                  </a:moveTo>
                  <a:lnTo>
                    <a:pt x="1389182" y="0"/>
                  </a:lnTo>
                  <a:lnTo>
                    <a:pt x="1389182" y="1370082"/>
                  </a:lnTo>
                  <a:lnTo>
                    <a:pt x="0" y="1370082"/>
                  </a:lnTo>
                  <a:lnTo>
                    <a:pt x="0" y="0"/>
                  </a:lnTo>
                  <a:close/>
                </a:path>
              </a:pathLst>
            </a:custGeom>
            <a:blipFill>
              <a:blip r:embed="rId5"/>
              <a:stretch>
                <a:fillRect l="0" t="0" r="0" b="0"/>
              </a:stretch>
            </a:blipFill>
          </p:spPr>
        </p:sp>
      </p:grpSp>
      <p:sp>
        <p:nvSpPr>
          <p:cNvPr name="Freeform 10" id="10"/>
          <p:cNvSpPr/>
          <p:nvPr/>
        </p:nvSpPr>
        <p:spPr>
          <a:xfrm flipH="false" flipV="false" rot="0">
            <a:off x="4810576" y="1976650"/>
            <a:ext cx="8666848" cy="7281650"/>
          </a:xfrm>
          <a:custGeom>
            <a:avLst/>
            <a:gdLst/>
            <a:ahLst/>
            <a:cxnLst/>
            <a:rect r="r" b="b" t="t" l="l"/>
            <a:pathLst>
              <a:path h="7281650" w="8666848">
                <a:moveTo>
                  <a:pt x="0" y="0"/>
                </a:moveTo>
                <a:lnTo>
                  <a:pt x="8666848" y="0"/>
                </a:lnTo>
                <a:lnTo>
                  <a:pt x="8666848" y="7281650"/>
                </a:lnTo>
                <a:lnTo>
                  <a:pt x="0" y="7281650"/>
                </a:lnTo>
                <a:lnTo>
                  <a:pt x="0" y="0"/>
                </a:lnTo>
                <a:close/>
              </a:path>
            </a:pathLst>
          </a:custGeom>
          <a:blipFill>
            <a:blip r:embed="rId6"/>
            <a:stretch>
              <a:fillRect l="0" t="0" r="-5347" b="-5347"/>
            </a:stretch>
          </a:blipFill>
        </p:spPr>
      </p:sp>
      <p:sp>
        <p:nvSpPr>
          <p:cNvPr name="TextBox 11" id="11"/>
          <p:cNvSpPr txBox="true"/>
          <p:nvPr/>
        </p:nvSpPr>
        <p:spPr>
          <a:xfrm rot="0">
            <a:off x="6231865" y="556919"/>
            <a:ext cx="5997079" cy="781638"/>
          </a:xfrm>
          <a:prstGeom prst="rect">
            <a:avLst/>
          </a:prstGeom>
        </p:spPr>
        <p:txBody>
          <a:bodyPr anchor="t" rtlCol="false" tIns="0" lIns="0" bIns="0" rIns="0">
            <a:spAutoFit/>
          </a:bodyPr>
          <a:lstStyle/>
          <a:p>
            <a:pPr algn="ctr">
              <a:lnSpc>
                <a:spcPts val="5742"/>
              </a:lnSpc>
              <a:spcBef>
                <a:spcPct val="0"/>
              </a:spcBef>
            </a:pPr>
            <a:r>
              <a:rPr lang="en-US" sz="4101">
                <a:solidFill>
                  <a:srgbClr val="000000"/>
                </a:solidFill>
                <a:latin typeface="Kaftus"/>
                <a:ea typeface="Kaftus"/>
                <a:cs typeface="Kaftus"/>
                <a:sym typeface="Kaftus"/>
              </a:rPr>
              <a:t>SEQUENCE DIAGRAM</a:t>
            </a:r>
          </a:p>
        </p:txBody>
      </p:sp>
      <p:sp>
        <p:nvSpPr>
          <p:cNvPr name="TextBox 12" id="12"/>
          <p:cNvSpPr txBox="true"/>
          <p:nvPr/>
        </p:nvSpPr>
        <p:spPr>
          <a:xfrm rot="0">
            <a:off x="6543908" y="1224256"/>
            <a:ext cx="5372993" cy="579351"/>
          </a:xfrm>
          <a:prstGeom prst="rect">
            <a:avLst/>
          </a:prstGeom>
        </p:spPr>
        <p:txBody>
          <a:bodyPr anchor="t" rtlCol="false" tIns="0" lIns="0" bIns="0" rIns="0">
            <a:spAutoFit/>
          </a:bodyPr>
          <a:lstStyle/>
          <a:p>
            <a:pPr algn="ctr">
              <a:lnSpc>
                <a:spcPts val="4292"/>
              </a:lnSpc>
              <a:spcBef>
                <a:spcPct val="0"/>
              </a:spcBef>
            </a:pPr>
            <a:r>
              <a:rPr lang="en-US" sz="3065">
                <a:solidFill>
                  <a:srgbClr val="000000"/>
                </a:solidFill>
                <a:latin typeface="Kaftus"/>
                <a:ea typeface="Kaftus"/>
                <a:cs typeface="Kaftus"/>
                <a:sym typeface="Kaftus"/>
              </a:rPr>
              <a:t>Pembayaran Pelanggan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493232" y="272694"/>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6750648" y="1293012"/>
            <a:ext cx="4780756" cy="781638"/>
          </a:xfrm>
          <a:prstGeom prst="rect">
            <a:avLst/>
          </a:prstGeom>
        </p:spPr>
        <p:txBody>
          <a:bodyPr anchor="t" rtlCol="false" tIns="0" lIns="0" bIns="0" rIns="0">
            <a:spAutoFit/>
          </a:bodyPr>
          <a:lstStyle/>
          <a:p>
            <a:pPr algn="ctr">
              <a:lnSpc>
                <a:spcPts val="5742"/>
              </a:lnSpc>
              <a:spcBef>
                <a:spcPct val="0"/>
              </a:spcBef>
            </a:pPr>
            <a:r>
              <a:rPr lang="en-US" sz="4101">
                <a:solidFill>
                  <a:srgbClr val="000000"/>
                </a:solidFill>
                <a:latin typeface="Kaftus"/>
                <a:ea typeface="Kaftus"/>
                <a:cs typeface="Kaftus"/>
                <a:sym typeface="Kaftus"/>
              </a:rPr>
              <a:t>CLASS DIAGRAM</a:t>
            </a:r>
          </a:p>
        </p:txBody>
      </p:sp>
      <p:sp>
        <p:nvSpPr>
          <p:cNvPr name="Freeform 11" id="11"/>
          <p:cNvSpPr/>
          <p:nvPr/>
        </p:nvSpPr>
        <p:spPr>
          <a:xfrm flipH="false" flipV="false" rot="0">
            <a:off x="3686916" y="2614379"/>
            <a:ext cx="11272849" cy="5686304"/>
          </a:xfrm>
          <a:custGeom>
            <a:avLst/>
            <a:gdLst/>
            <a:ahLst/>
            <a:cxnLst/>
            <a:rect r="r" b="b" t="t" l="l"/>
            <a:pathLst>
              <a:path h="5686304" w="11272849">
                <a:moveTo>
                  <a:pt x="0" y="0"/>
                </a:moveTo>
                <a:lnTo>
                  <a:pt x="11272849" y="0"/>
                </a:lnTo>
                <a:lnTo>
                  <a:pt x="11272849" y="5686304"/>
                </a:lnTo>
                <a:lnTo>
                  <a:pt x="0" y="5686304"/>
                </a:lnTo>
                <a:lnTo>
                  <a:pt x="0" y="0"/>
                </a:lnTo>
                <a:close/>
              </a:path>
            </a:pathLst>
          </a:custGeom>
          <a:blipFill>
            <a:blip r:embed="rId6"/>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62621" y="-175660"/>
            <a:ext cx="18903507" cy="10638267"/>
            <a:chOff x="0" y="0"/>
            <a:chExt cx="25204676" cy="14184356"/>
          </a:xfrm>
        </p:grpSpPr>
        <p:sp>
          <p:nvSpPr>
            <p:cNvPr name="Freeform 4" id="4"/>
            <p:cNvSpPr/>
            <p:nvPr/>
          </p:nvSpPr>
          <p:spPr>
            <a:xfrm flipH="false" flipV="false" rot="0">
              <a:off x="0" y="293547"/>
              <a:ext cx="15249392" cy="13890810"/>
            </a:xfrm>
            <a:custGeom>
              <a:avLst/>
              <a:gdLst/>
              <a:ahLst/>
              <a:cxnLst/>
              <a:rect r="r" b="b" t="t" l="l"/>
              <a:pathLst>
                <a:path h="13890810" w="15249392">
                  <a:moveTo>
                    <a:pt x="0" y="0"/>
                  </a:moveTo>
                  <a:lnTo>
                    <a:pt x="15249392" y="0"/>
                  </a:lnTo>
                  <a:lnTo>
                    <a:pt x="15249392" y="13890809"/>
                  </a:lnTo>
                  <a:lnTo>
                    <a:pt x="0" y="13890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955284" y="293547"/>
              <a:ext cx="15249392" cy="13890810"/>
            </a:xfrm>
            <a:custGeom>
              <a:avLst/>
              <a:gdLst/>
              <a:ahLst/>
              <a:cxnLst/>
              <a:rect r="r" b="b" t="t" l="l"/>
              <a:pathLst>
                <a:path h="13890810" w="15249392">
                  <a:moveTo>
                    <a:pt x="0" y="0"/>
                  </a:moveTo>
                  <a:lnTo>
                    <a:pt x="15249392" y="0"/>
                  </a:lnTo>
                  <a:lnTo>
                    <a:pt x="15249392" y="13890809"/>
                  </a:lnTo>
                  <a:lnTo>
                    <a:pt x="0" y="13890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74093" y="49544"/>
              <a:ext cx="1475738" cy="1455447"/>
            </a:xfrm>
            <a:custGeom>
              <a:avLst/>
              <a:gdLst/>
              <a:ahLst/>
              <a:cxnLst/>
              <a:rect r="r" b="b" t="t" l="l"/>
              <a:pathLst>
                <a:path h="1455447" w="1475738">
                  <a:moveTo>
                    <a:pt x="0" y="0"/>
                  </a:moveTo>
                  <a:lnTo>
                    <a:pt x="1475739" y="0"/>
                  </a:lnTo>
                  <a:lnTo>
                    <a:pt x="1475739" y="1455447"/>
                  </a:lnTo>
                  <a:lnTo>
                    <a:pt x="0" y="1455447"/>
                  </a:lnTo>
                  <a:lnTo>
                    <a:pt x="0" y="0"/>
                  </a:lnTo>
                  <a:close/>
                </a:path>
              </a:pathLst>
            </a:custGeom>
            <a:blipFill>
              <a:blip r:embed="rId5"/>
              <a:stretch>
                <a:fillRect l="0" t="0" r="0" b="0"/>
              </a:stretch>
            </a:blipFill>
          </p:spPr>
        </p:sp>
        <p:sp>
          <p:nvSpPr>
            <p:cNvPr name="Freeform 7" id="7"/>
            <p:cNvSpPr/>
            <p:nvPr/>
          </p:nvSpPr>
          <p:spPr>
            <a:xfrm flipH="false" flipV="false" rot="0">
              <a:off x="23363267" y="0"/>
              <a:ext cx="1475738" cy="1455447"/>
            </a:xfrm>
            <a:custGeom>
              <a:avLst/>
              <a:gdLst/>
              <a:ahLst/>
              <a:cxnLst/>
              <a:rect r="r" b="b" t="t" l="l"/>
              <a:pathLst>
                <a:path h="1455447" w="1475738">
                  <a:moveTo>
                    <a:pt x="0" y="0"/>
                  </a:moveTo>
                  <a:lnTo>
                    <a:pt x="1475738" y="0"/>
                  </a:lnTo>
                  <a:lnTo>
                    <a:pt x="1475738" y="1455447"/>
                  </a:lnTo>
                  <a:lnTo>
                    <a:pt x="0" y="1455447"/>
                  </a:lnTo>
                  <a:lnTo>
                    <a:pt x="0" y="0"/>
                  </a:lnTo>
                  <a:close/>
                </a:path>
              </a:pathLst>
            </a:custGeom>
            <a:blipFill>
              <a:blip r:embed="rId5"/>
              <a:stretch>
                <a:fillRect l="0" t="0" r="0" b="0"/>
              </a:stretch>
            </a:blipFill>
          </p:spPr>
        </p:sp>
        <p:sp>
          <p:nvSpPr>
            <p:cNvPr name="Freeform 8" id="8"/>
            <p:cNvSpPr/>
            <p:nvPr/>
          </p:nvSpPr>
          <p:spPr>
            <a:xfrm flipH="false" flipV="false" rot="0">
              <a:off x="23363267" y="11706026"/>
              <a:ext cx="1475738" cy="1455447"/>
            </a:xfrm>
            <a:custGeom>
              <a:avLst/>
              <a:gdLst/>
              <a:ahLst/>
              <a:cxnLst/>
              <a:rect r="r" b="b" t="t" l="l"/>
              <a:pathLst>
                <a:path h="1455447" w="1475738">
                  <a:moveTo>
                    <a:pt x="0" y="0"/>
                  </a:moveTo>
                  <a:lnTo>
                    <a:pt x="1475738" y="0"/>
                  </a:lnTo>
                  <a:lnTo>
                    <a:pt x="1475738" y="1455447"/>
                  </a:lnTo>
                  <a:lnTo>
                    <a:pt x="0" y="1455447"/>
                  </a:lnTo>
                  <a:lnTo>
                    <a:pt x="0" y="0"/>
                  </a:lnTo>
                  <a:close/>
                </a:path>
              </a:pathLst>
            </a:custGeom>
            <a:blipFill>
              <a:blip r:embed="rId5"/>
              <a:stretch>
                <a:fillRect l="0" t="0" r="0" b="0"/>
              </a:stretch>
            </a:blipFill>
          </p:spPr>
        </p:sp>
        <p:sp>
          <p:nvSpPr>
            <p:cNvPr name="Freeform 9" id="9"/>
            <p:cNvSpPr/>
            <p:nvPr/>
          </p:nvSpPr>
          <p:spPr>
            <a:xfrm flipH="false" flipV="false" rot="0">
              <a:off x="374093" y="11706026"/>
              <a:ext cx="1475738" cy="1455447"/>
            </a:xfrm>
            <a:custGeom>
              <a:avLst/>
              <a:gdLst/>
              <a:ahLst/>
              <a:cxnLst/>
              <a:rect r="r" b="b" t="t" l="l"/>
              <a:pathLst>
                <a:path h="1455447" w="1475738">
                  <a:moveTo>
                    <a:pt x="0" y="0"/>
                  </a:moveTo>
                  <a:lnTo>
                    <a:pt x="1475739" y="0"/>
                  </a:lnTo>
                  <a:lnTo>
                    <a:pt x="1475739" y="1455447"/>
                  </a:lnTo>
                  <a:lnTo>
                    <a:pt x="0" y="1455447"/>
                  </a:lnTo>
                  <a:lnTo>
                    <a:pt x="0" y="0"/>
                  </a:lnTo>
                  <a:close/>
                </a:path>
              </a:pathLst>
            </a:custGeom>
            <a:blipFill>
              <a:blip r:embed="rId5"/>
              <a:stretch>
                <a:fillRect l="0" t="0" r="0" b="0"/>
              </a:stretch>
            </a:blipFill>
          </p:spPr>
        </p:sp>
      </p:grpSp>
      <p:sp>
        <p:nvSpPr>
          <p:cNvPr name="TextBox 10" id="10"/>
          <p:cNvSpPr txBox="true"/>
          <p:nvPr/>
        </p:nvSpPr>
        <p:spPr>
          <a:xfrm rot="0">
            <a:off x="6303466" y="357951"/>
            <a:ext cx="5681067" cy="1267413"/>
          </a:xfrm>
          <a:prstGeom prst="rect">
            <a:avLst/>
          </a:prstGeom>
        </p:spPr>
        <p:txBody>
          <a:bodyPr anchor="t" rtlCol="false" tIns="0" lIns="0" bIns="0" rIns="0">
            <a:spAutoFit/>
          </a:bodyPr>
          <a:lstStyle/>
          <a:p>
            <a:pPr algn="ctr">
              <a:lnSpc>
                <a:spcPts val="4887"/>
              </a:lnSpc>
            </a:pPr>
            <a:r>
              <a:rPr lang="en-US" sz="3491">
                <a:solidFill>
                  <a:srgbClr val="000000"/>
                </a:solidFill>
                <a:latin typeface="Kaftus"/>
                <a:ea typeface="Kaftus"/>
                <a:cs typeface="Kaftus"/>
                <a:sym typeface="Kaftus"/>
              </a:rPr>
              <a:t>TAMPILAN PELANGGAN</a:t>
            </a:r>
          </a:p>
          <a:p>
            <a:pPr algn="ctr">
              <a:lnSpc>
                <a:spcPts val="4887"/>
              </a:lnSpc>
              <a:spcBef>
                <a:spcPct val="0"/>
              </a:spcBef>
            </a:pPr>
            <a:r>
              <a:rPr lang="en-US" sz="3491">
                <a:solidFill>
                  <a:srgbClr val="000000"/>
                </a:solidFill>
                <a:latin typeface="Kaftus"/>
                <a:ea typeface="Kaftus"/>
                <a:cs typeface="Kaftus"/>
                <a:sym typeface="Kaftus"/>
              </a:rPr>
              <a:t>(Registrasi &amp; Login)</a:t>
            </a:r>
          </a:p>
        </p:txBody>
      </p:sp>
      <p:sp>
        <p:nvSpPr>
          <p:cNvPr name="TextBox 11" id="11"/>
          <p:cNvSpPr txBox="true"/>
          <p:nvPr/>
        </p:nvSpPr>
        <p:spPr>
          <a:xfrm rot="0">
            <a:off x="4605269" y="1758768"/>
            <a:ext cx="2001342" cy="376150"/>
          </a:xfrm>
          <a:prstGeom prst="rect">
            <a:avLst/>
          </a:prstGeom>
        </p:spPr>
        <p:txBody>
          <a:bodyPr anchor="t" rtlCol="false" tIns="0" lIns="0" bIns="0" rIns="0">
            <a:spAutoFit/>
          </a:bodyPr>
          <a:lstStyle/>
          <a:p>
            <a:pPr algn="l" marL="446035" indent="-223018" lvl="1">
              <a:lnSpc>
                <a:spcPts val="2892"/>
              </a:lnSpc>
              <a:buFont typeface="Arial"/>
              <a:buChar char="•"/>
            </a:pPr>
            <a:r>
              <a:rPr lang="en-US" sz="2065">
                <a:solidFill>
                  <a:srgbClr val="000000"/>
                </a:solidFill>
                <a:latin typeface="Kaftus"/>
                <a:ea typeface="Kaftus"/>
                <a:cs typeface="Kaftus"/>
                <a:sym typeface="Kaftus"/>
              </a:rPr>
              <a:t>Registrasi</a:t>
            </a:r>
          </a:p>
        </p:txBody>
      </p:sp>
      <p:sp>
        <p:nvSpPr>
          <p:cNvPr name="TextBox 12" id="12"/>
          <p:cNvSpPr txBox="true"/>
          <p:nvPr/>
        </p:nvSpPr>
        <p:spPr>
          <a:xfrm rot="0">
            <a:off x="10429974" y="1758714"/>
            <a:ext cx="1285974" cy="376150"/>
          </a:xfrm>
          <a:prstGeom prst="rect">
            <a:avLst/>
          </a:prstGeom>
        </p:spPr>
        <p:txBody>
          <a:bodyPr anchor="t" rtlCol="false" tIns="0" lIns="0" bIns="0" rIns="0">
            <a:spAutoFit/>
          </a:bodyPr>
          <a:lstStyle/>
          <a:p>
            <a:pPr algn="l" marL="446035" indent="-223018" lvl="1">
              <a:lnSpc>
                <a:spcPts val="2892"/>
              </a:lnSpc>
              <a:buFont typeface="Arial"/>
              <a:buChar char="•"/>
            </a:pPr>
            <a:r>
              <a:rPr lang="en-US" sz="2065">
                <a:solidFill>
                  <a:srgbClr val="000000"/>
                </a:solidFill>
                <a:latin typeface="Kaftus"/>
                <a:ea typeface="Kaftus"/>
                <a:cs typeface="Kaftus"/>
                <a:sym typeface="Kaftus"/>
              </a:rPr>
              <a:t>Login</a:t>
            </a:r>
          </a:p>
        </p:txBody>
      </p:sp>
      <p:sp>
        <p:nvSpPr>
          <p:cNvPr name="Freeform 13" id="13"/>
          <p:cNvSpPr/>
          <p:nvPr/>
        </p:nvSpPr>
        <p:spPr>
          <a:xfrm flipH="false" flipV="false" rot="0">
            <a:off x="4605269" y="2332116"/>
            <a:ext cx="2864789" cy="6452347"/>
          </a:xfrm>
          <a:custGeom>
            <a:avLst/>
            <a:gdLst/>
            <a:ahLst/>
            <a:cxnLst/>
            <a:rect r="r" b="b" t="t" l="l"/>
            <a:pathLst>
              <a:path h="6452347" w="2864789">
                <a:moveTo>
                  <a:pt x="0" y="0"/>
                </a:moveTo>
                <a:lnTo>
                  <a:pt x="2864789" y="0"/>
                </a:lnTo>
                <a:lnTo>
                  <a:pt x="2864789" y="6452347"/>
                </a:lnTo>
                <a:lnTo>
                  <a:pt x="0" y="6452347"/>
                </a:lnTo>
                <a:lnTo>
                  <a:pt x="0" y="0"/>
                </a:lnTo>
                <a:close/>
              </a:path>
            </a:pathLst>
          </a:custGeom>
          <a:blipFill>
            <a:blip r:embed="rId6"/>
            <a:stretch>
              <a:fillRect l="-2365" t="0" r="-2365" b="0"/>
            </a:stretch>
          </a:blipFill>
        </p:spPr>
      </p:sp>
      <p:sp>
        <p:nvSpPr>
          <p:cNvPr name="Freeform 14" id="14"/>
          <p:cNvSpPr/>
          <p:nvPr/>
        </p:nvSpPr>
        <p:spPr>
          <a:xfrm flipH="false" flipV="false" rot="0">
            <a:off x="10429974" y="2332116"/>
            <a:ext cx="3000341" cy="6452347"/>
          </a:xfrm>
          <a:custGeom>
            <a:avLst/>
            <a:gdLst/>
            <a:ahLst/>
            <a:cxnLst/>
            <a:rect r="r" b="b" t="t" l="l"/>
            <a:pathLst>
              <a:path h="6452347" w="3000341">
                <a:moveTo>
                  <a:pt x="0" y="0"/>
                </a:moveTo>
                <a:lnTo>
                  <a:pt x="3000342" y="0"/>
                </a:lnTo>
                <a:lnTo>
                  <a:pt x="3000342" y="6452347"/>
                </a:lnTo>
                <a:lnTo>
                  <a:pt x="0" y="6452347"/>
                </a:lnTo>
                <a:lnTo>
                  <a:pt x="0" y="0"/>
                </a:lnTo>
                <a:close/>
              </a:path>
            </a:pathLst>
          </a:custGeom>
          <a:blipFill>
            <a:blip r:embed="rId7"/>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62621" y="-175660"/>
            <a:ext cx="18903507" cy="10638267"/>
            <a:chOff x="0" y="0"/>
            <a:chExt cx="25204676" cy="14184356"/>
          </a:xfrm>
        </p:grpSpPr>
        <p:sp>
          <p:nvSpPr>
            <p:cNvPr name="Freeform 4" id="4"/>
            <p:cNvSpPr/>
            <p:nvPr/>
          </p:nvSpPr>
          <p:spPr>
            <a:xfrm flipH="false" flipV="false" rot="0">
              <a:off x="0" y="293547"/>
              <a:ext cx="15249392" cy="13890810"/>
            </a:xfrm>
            <a:custGeom>
              <a:avLst/>
              <a:gdLst/>
              <a:ahLst/>
              <a:cxnLst/>
              <a:rect r="r" b="b" t="t" l="l"/>
              <a:pathLst>
                <a:path h="13890810" w="15249392">
                  <a:moveTo>
                    <a:pt x="0" y="0"/>
                  </a:moveTo>
                  <a:lnTo>
                    <a:pt x="15249392" y="0"/>
                  </a:lnTo>
                  <a:lnTo>
                    <a:pt x="15249392" y="13890809"/>
                  </a:lnTo>
                  <a:lnTo>
                    <a:pt x="0" y="13890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955284" y="293547"/>
              <a:ext cx="15249392" cy="13890810"/>
            </a:xfrm>
            <a:custGeom>
              <a:avLst/>
              <a:gdLst/>
              <a:ahLst/>
              <a:cxnLst/>
              <a:rect r="r" b="b" t="t" l="l"/>
              <a:pathLst>
                <a:path h="13890810" w="15249392">
                  <a:moveTo>
                    <a:pt x="0" y="0"/>
                  </a:moveTo>
                  <a:lnTo>
                    <a:pt x="15249392" y="0"/>
                  </a:lnTo>
                  <a:lnTo>
                    <a:pt x="15249392" y="13890809"/>
                  </a:lnTo>
                  <a:lnTo>
                    <a:pt x="0" y="138908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74093" y="49544"/>
              <a:ext cx="1475738" cy="1455447"/>
            </a:xfrm>
            <a:custGeom>
              <a:avLst/>
              <a:gdLst/>
              <a:ahLst/>
              <a:cxnLst/>
              <a:rect r="r" b="b" t="t" l="l"/>
              <a:pathLst>
                <a:path h="1455447" w="1475738">
                  <a:moveTo>
                    <a:pt x="0" y="0"/>
                  </a:moveTo>
                  <a:lnTo>
                    <a:pt x="1475739" y="0"/>
                  </a:lnTo>
                  <a:lnTo>
                    <a:pt x="1475739" y="1455447"/>
                  </a:lnTo>
                  <a:lnTo>
                    <a:pt x="0" y="1455447"/>
                  </a:lnTo>
                  <a:lnTo>
                    <a:pt x="0" y="0"/>
                  </a:lnTo>
                  <a:close/>
                </a:path>
              </a:pathLst>
            </a:custGeom>
            <a:blipFill>
              <a:blip r:embed="rId5"/>
              <a:stretch>
                <a:fillRect l="0" t="0" r="0" b="0"/>
              </a:stretch>
            </a:blipFill>
          </p:spPr>
        </p:sp>
        <p:sp>
          <p:nvSpPr>
            <p:cNvPr name="Freeform 7" id="7"/>
            <p:cNvSpPr/>
            <p:nvPr/>
          </p:nvSpPr>
          <p:spPr>
            <a:xfrm flipH="false" flipV="false" rot="0">
              <a:off x="23363267" y="0"/>
              <a:ext cx="1475738" cy="1455447"/>
            </a:xfrm>
            <a:custGeom>
              <a:avLst/>
              <a:gdLst/>
              <a:ahLst/>
              <a:cxnLst/>
              <a:rect r="r" b="b" t="t" l="l"/>
              <a:pathLst>
                <a:path h="1455447" w="1475738">
                  <a:moveTo>
                    <a:pt x="0" y="0"/>
                  </a:moveTo>
                  <a:lnTo>
                    <a:pt x="1475738" y="0"/>
                  </a:lnTo>
                  <a:lnTo>
                    <a:pt x="1475738" y="1455447"/>
                  </a:lnTo>
                  <a:lnTo>
                    <a:pt x="0" y="1455447"/>
                  </a:lnTo>
                  <a:lnTo>
                    <a:pt x="0" y="0"/>
                  </a:lnTo>
                  <a:close/>
                </a:path>
              </a:pathLst>
            </a:custGeom>
            <a:blipFill>
              <a:blip r:embed="rId5"/>
              <a:stretch>
                <a:fillRect l="0" t="0" r="0" b="0"/>
              </a:stretch>
            </a:blipFill>
          </p:spPr>
        </p:sp>
        <p:sp>
          <p:nvSpPr>
            <p:cNvPr name="Freeform 8" id="8"/>
            <p:cNvSpPr/>
            <p:nvPr/>
          </p:nvSpPr>
          <p:spPr>
            <a:xfrm flipH="false" flipV="false" rot="0">
              <a:off x="23363267" y="11706026"/>
              <a:ext cx="1475738" cy="1455447"/>
            </a:xfrm>
            <a:custGeom>
              <a:avLst/>
              <a:gdLst/>
              <a:ahLst/>
              <a:cxnLst/>
              <a:rect r="r" b="b" t="t" l="l"/>
              <a:pathLst>
                <a:path h="1455447" w="1475738">
                  <a:moveTo>
                    <a:pt x="0" y="0"/>
                  </a:moveTo>
                  <a:lnTo>
                    <a:pt x="1475738" y="0"/>
                  </a:lnTo>
                  <a:lnTo>
                    <a:pt x="1475738" y="1455447"/>
                  </a:lnTo>
                  <a:lnTo>
                    <a:pt x="0" y="1455447"/>
                  </a:lnTo>
                  <a:lnTo>
                    <a:pt x="0" y="0"/>
                  </a:lnTo>
                  <a:close/>
                </a:path>
              </a:pathLst>
            </a:custGeom>
            <a:blipFill>
              <a:blip r:embed="rId5"/>
              <a:stretch>
                <a:fillRect l="0" t="0" r="0" b="0"/>
              </a:stretch>
            </a:blipFill>
          </p:spPr>
        </p:sp>
        <p:sp>
          <p:nvSpPr>
            <p:cNvPr name="Freeform 9" id="9"/>
            <p:cNvSpPr/>
            <p:nvPr/>
          </p:nvSpPr>
          <p:spPr>
            <a:xfrm flipH="false" flipV="false" rot="0">
              <a:off x="374093" y="11706026"/>
              <a:ext cx="1475738" cy="1455447"/>
            </a:xfrm>
            <a:custGeom>
              <a:avLst/>
              <a:gdLst/>
              <a:ahLst/>
              <a:cxnLst/>
              <a:rect r="r" b="b" t="t" l="l"/>
              <a:pathLst>
                <a:path h="1455447" w="1475738">
                  <a:moveTo>
                    <a:pt x="0" y="0"/>
                  </a:moveTo>
                  <a:lnTo>
                    <a:pt x="1475739" y="0"/>
                  </a:lnTo>
                  <a:lnTo>
                    <a:pt x="1475739" y="1455447"/>
                  </a:lnTo>
                  <a:lnTo>
                    <a:pt x="0" y="1455447"/>
                  </a:lnTo>
                  <a:lnTo>
                    <a:pt x="0" y="0"/>
                  </a:lnTo>
                  <a:close/>
                </a:path>
              </a:pathLst>
            </a:custGeom>
            <a:blipFill>
              <a:blip r:embed="rId5"/>
              <a:stretch>
                <a:fillRect l="0" t="0" r="0" b="0"/>
              </a:stretch>
            </a:blipFill>
          </p:spPr>
        </p:sp>
      </p:grpSp>
      <p:sp>
        <p:nvSpPr>
          <p:cNvPr name="Freeform 10" id="10"/>
          <p:cNvSpPr/>
          <p:nvPr/>
        </p:nvSpPr>
        <p:spPr>
          <a:xfrm flipH="false" flipV="false" rot="0">
            <a:off x="3774168" y="2550749"/>
            <a:ext cx="2958683" cy="6306591"/>
          </a:xfrm>
          <a:custGeom>
            <a:avLst/>
            <a:gdLst/>
            <a:ahLst/>
            <a:cxnLst/>
            <a:rect r="r" b="b" t="t" l="l"/>
            <a:pathLst>
              <a:path h="6306591" w="2958683">
                <a:moveTo>
                  <a:pt x="0" y="0"/>
                </a:moveTo>
                <a:lnTo>
                  <a:pt x="2958683" y="0"/>
                </a:lnTo>
                <a:lnTo>
                  <a:pt x="2958683" y="6306592"/>
                </a:lnTo>
                <a:lnTo>
                  <a:pt x="0" y="6306592"/>
                </a:lnTo>
                <a:lnTo>
                  <a:pt x="0" y="0"/>
                </a:lnTo>
                <a:close/>
              </a:path>
            </a:pathLst>
          </a:custGeom>
          <a:blipFill>
            <a:blip r:embed="rId6"/>
            <a:stretch>
              <a:fillRect l="0" t="-445" r="0" b="-445"/>
            </a:stretch>
          </a:blipFill>
        </p:spPr>
      </p:sp>
      <p:sp>
        <p:nvSpPr>
          <p:cNvPr name="Freeform 11" id="11"/>
          <p:cNvSpPr/>
          <p:nvPr/>
        </p:nvSpPr>
        <p:spPr>
          <a:xfrm flipH="false" flipV="false" rot="0">
            <a:off x="7672722" y="2550749"/>
            <a:ext cx="3150684" cy="6775664"/>
          </a:xfrm>
          <a:custGeom>
            <a:avLst/>
            <a:gdLst/>
            <a:ahLst/>
            <a:cxnLst/>
            <a:rect r="r" b="b" t="t" l="l"/>
            <a:pathLst>
              <a:path h="6775664" w="3150684">
                <a:moveTo>
                  <a:pt x="0" y="0"/>
                </a:moveTo>
                <a:lnTo>
                  <a:pt x="3150684" y="0"/>
                </a:lnTo>
                <a:lnTo>
                  <a:pt x="3150684" y="6775665"/>
                </a:lnTo>
                <a:lnTo>
                  <a:pt x="0" y="6775665"/>
                </a:lnTo>
                <a:lnTo>
                  <a:pt x="0" y="0"/>
                </a:lnTo>
                <a:close/>
              </a:path>
            </a:pathLst>
          </a:custGeom>
          <a:blipFill>
            <a:blip r:embed="rId7"/>
            <a:stretch>
              <a:fillRect l="0" t="0" r="0" b="0"/>
            </a:stretch>
          </a:blipFill>
        </p:spPr>
      </p:sp>
      <p:sp>
        <p:nvSpPr>
          <p:cNvPr name="Freeform 12" id="12"/>
          <p:cNvSpPr/>
          <p:nvPr/>
        </p:nvSpPr>
        <p:spPr>
          <a:xfrm flipH="false" flipV="false" rot="0">
            <a:off x="11766381" y="2550749"/>
            <a:ext cx="2955986" cy="6356958"/>
          </a:xfrm>
          <a:custGeom>
            <a:avLst/>
            <a:gdLst/>
            <a:ahLst/>
            <a:cxnLst/>
            <a:rect r="r" b="b" t="t" l="l"/>
            <a:pathLst>
              <a:path h="6356958" w="2955986">
                <a:moveTo>
                  <a:pt x="0" y="0"/>
                </a:moveTo>
                <a:lnTo>
                  <a:pt x="2955986" y="0"/>
                </a:lnTo>
                <a:lnTo>
                  <a:pt x="2955986" y="6356959"/>
                </a:lnTo>
                <a:lnTo>
                  <a:pt x="0" y="6356959"/>
                </a:lnTo>
                <a:lnTo>
                  <a:pt x="0" y="0"/>
                </a:lnTo>
                <a:close/>
              </a:path>
            </a:pathLst>
          </a:custGeom>
          <a:blipFill>
            <a:blip r:embed="rId8"/>
            <a:stretch>
              <a:fillRect l="0" t="0" r="0" b="0"/>
            </a:stretch>
          </a:blipFill>
        </p:spPr>
      </p:sp>
      <p:sp>
        <p:nvSpPr>
          <p:cNvPr name="TextBox 13" id="13"/>
          <p:cNvSpPr txBox="true"/>
          <p:nvPr/>
        </p:nvSpPr>
        <p:spPr>
          <a:xfrm rot="0">
            <a:off x="2951448" y="390012"/>
            <a:ext cx="12385105" cy="1163076"/>
          </a:xfrm>
          <a:prstGeom prst="rect">
            <a:avLst/>
          </a:prstGeom>
        </p:spPr>
        <p:txBody>
          <a:bodyPr anchor="t" rtlCol="false" tIns="0" lIns="0" bIns="0" rIns="0">
            <a:spAutoFit/>
          </a:bodyPr>
          <a:lstStyle/>
          <a:p>
            <a:pPr algn="ctr">
              <a:lnSpc>
                <a:spcPts val="4482"/>
              </a:lnSpc>
            </a:pPr>
            <a:r>
              <a:rPr lang="en-US" sz="3201">
                <a:solidFill>
                  <a:srgbClr val="000000"/>
                </a:solidFill>
                <a:latin typeface="Kaftus"/>
                <a:ea typeface="Kaftus"/>
                <a:cs typeface="Kaftus"/>
                <a:sym typeface="Kaftus"/>
              </a:rPr>
              <a:t>TAMPILAN PELANGGAN</a:t>
            </a:r>
          </a:p>
          <a:p>
            <a:pPr algn="ctr">
              <a:lnSpc>
                <a:spcPts val="4482"/>
              </a:lnSpc>
              <a:spcBef>
                <a:spcPct val="0"/>
              </a:spcBef>
            </a:pPr>
            <a:r>
              <a:rPr lang="en-US" sz="3201">
                <a:solidFill>
                  <a:srgbClr val="000000"/>
                </a:solidFill>
                <a:latin typeface="Kaftus"/>
                <a:ea typeface="Kaftus"/>
                <a:cs typeface="Kaftus"/>
                <a:sym typeface="Kaftus"/>
              </a:rPr>
              <a:t>(Halaman Utama, Daftar Layanan, &amp; Detail Layanan)</a:t>
            </a:r>
          </a:p>
        </p:txBody>
      </p:sp>
      <p:sp>
        <p:nvSpPr>
          <p:cNvPr name="TextBox 14" id="14"/>
          <p:cNvSpPr txBox="true"/>
          <p:nvPr/>
        </p:nvSpPr>
        <p:spPr>
          <a:xfrm rot="0">
            <a:off x="3774168" y="1913344"/>
            <a:ext cx="2863850" cy="376150"/>
          </a:xfrm>
          <a:prstGeom prst="rect">
            <a:avLst/>
          </a:prstGeom>
        </p:spPr>
        <p:txBody>
          <a:bodyPr anchor="t" rtlCol="false" tIns="0" lIns="0" bIns="0" rIns="0">
            <a:spAutoFit/>
          </a:bodyPr>
          <a:lstStyle/>
          <a:p>
            <a:pPr algn="l" marL="446035" indent="-223018" lvl="1">
              <a:lnSpc>
                <a:spcPts val="2892"/>
              </a:lnSpc>
              <a:buFont typeface="Arial"/>
              <a:buChar char="•"/>
            </a:pPr>
            <a:r>
              <a:rPr lang="en-US" sz="2065">
                <a:solidFill>
                  <a:srgbClr val="000000"/>
                </a:solidFill>
                <a:latin typeface="Kaftus"/>
                <a:ea typeface="Kaftus"/>
                <a:cs typeface="Kaftus"/>
                <a:sym typeface="Kaftus"/>
              </a:rPr>
              <a:t>Halaman Utama</a:t>
            </a:r>
          </a:p>
        </p:txBody>
      </p:sp>
      <p:sp>
        <p:nvSpPr>
          <p:cNvPr name="TextBox 15" id="15"/>
          <p:cNvSpPr txBox="true"/>
          <p:nvPr/>
        </p:nvSpPr>
        <p:spPr>
          <a:xfrm rot="0">
            <a:off x="7672722" y="1913344"/>
            <a:ext cx="2724845" cy="376150"/>
          </a:xfrm>
          <a:prstGeom prst="rect">
            <a:avLst/>
          </a:prstGeom>
        </p:spPr>
        <p:txBody>
          <a:bodyPr anchor="t" rtlCol="false" tIns="0" lIns="0" bIns="0" rIns="0">
            <a:spAutoFit/>
          </a:bodyPr>
          <a:lstStyle/>
          <a:p>
            <a:pPr algn="l" marL="446035" indent="-223018" lvl="1">
              <a:lnSpc>
                <a:spcPts val="2892"/>
              </a:lnSpc>
              <a:buFont typeface="Arial"/>
              <a:buChar char="•"/>
            </a:pPr>
            <a:r>
              <a:rPr lang="en-US" sz="2065">
                <a:solidFill>
                  <a:srgbClr val="000000"/>
                </a:solidFill>
                <a:latin typeface="Kaftus"/>
                <a:ea typeface="Kaftus"/>
                <a:cs typeface="Kaftus"/>
                <a:sym typeface="Kaftus"/>
              </a:rPr>
              <a:t>Daftar layanan</a:t>
            </a:r>
          </a:p>
        </p:txBody>
      </p:sp>
      <p:sp>
        <p:nvSpPr>
          <p:cNvPr name="TextBox 16" id="16"/>
          <p:cNvSpPr txBox="true"/>
          <p:nvPr/>
        </p:nvSpPr>
        <p:spPr>
          <a:xfrm rot="0">
            <a:off x="11766381" y="1913344"/>
            <a:ext cx="2637135" cy="376150"/>
          </a:xfrm>
          <a:prstGeom prst="rect">
            <a:avLst/>
          </a:prstGeom>
        </p:spPr>
        <p:txBody>
          <a:bodyPr anchor="t" rtlCol="false" tIns="0" lIns="0" bIns="0" rIns="0">
            <a:spAutoFit/>
          </a:bodyPr>
          <a:lstStyle/>
          <a:p>
            <a:pPr algn="l" marL="446035" indent="-223018" lvl="1">
              <a:lnSpc>
                <a:spcPts val="2892"/>
              </a:lnSpc>
              <a:buFont typeface="Arial"/>
              <a:buChar char="•"/>
            </a:pPr>
            <a:r>
              <a:rPr lang="en-US" sz="2065">
                <a:solidFill>
                  <a:srgbClr val="000000"/>
                </a:solidFill>
                <a:latin typeface="Kaftus"/>
                <a:ea typeface="Kaftus"/>
                <a:cs typeface="Kaftus"/>
                <a:sym typeface="Kaftus"/>
              </a:rPr>
              <a:t>Detail layanan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61275" y="0"/>
            <a:ext cx="17565450" cy="9885254"/>
            <a:chOff x="0" y="0"/>
            <a:chExt cx="23420600" cy="13180338"/>
          </a:xfrm>
        </p:grpSpPr>
        <p:sp>
          <p:nvSpPr>
            <p:cNvPr name="Freeform 4" id="4"/>
            <p:cNvSpPr/>
            <p:nvPr/>
          </p:nvSpPr>
          <p:spPr>
            <a:xfrm flipH="false" flipV="false" rot="0">
              <a:off x="0" y="272768"/>
              <a:ext cx="14169987" cy="12907570"/>
            </a:xfrm>
            <a:custGeom>
              <a:avLst/>
              <a:gdLst/>
              <a:ahLst/>
              <a:cxnLst/>
              <a:rect r="r" b="b" t="t" l="l"/>
              <a:pathLst>
                <a:path h="12907570" w="14169987">
                  <a:moveTo>
                    <a:pt x="0" y="0"/>
                  </a:moveTo>
                  <a:lnTo>
                    <a:pt x="14169987" y="0"/>
                  </a:lnTo>
                  <a:lnTo>
                    <a:pt x="14169987" y="12907570"/>
                  </a:lnTo>
                  <a:lnTo>
                    <a:pt x="0" y="12907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250614" y="0"/>
              <a:ext cx="14169987" cy="12907570"/>
            </a:xfrm>
            <a:custGeom>
              <a:avLst/>
              <a:gdLst/>
              <a:ahLst/>
              <a:cxnLst/>
              <a:rect r="r" b="b" t="t" l="l"/>
              <a:pathLst>
                <a:path h="12907570" w="14169987">
                  <a:moveTo>
                    <a:pt x="0" y="0"/>
                  </a:moveTo>
                  <a:lnTo>
                    <a:pt x="14169986" y="0"/>
                  </a:lnTo>
                  <a:lnTo>
                    <a:pt x="14169986" y="12907570"/>
                  </a:lnTo>
                  <a:lnTo>
                    <a:pt x="0" y="12907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47614" y="46037"/>
              <a:ext cx="1371280" cy="1352425"/>
            </a:xfrm>
            <a:custGeom>
              <a:avLst/>
              <a:gdLst/>
              <a:ahLst/>
              <a:cxnLst/>
              <a:rect r="r" b="b" t="t" l="l"/>
              <a:pathLst>
                <a:path h="1352425" w="1371280">
                  <a:moveTo>
                    <a:pt x="0" y="0"/>
                  </a:moveTo>
                  <a:lnTo>
                    <a:pt x="1371280" y="0"/>
                  </a:lnTo>
                  <a:lnTo>
                    <a:pt x="1371280" y="1352425"/>
                  </a:lnTo>
                  <a:lnTo>
                    <a:pt x="0" y="1352425"/>
                  </a:lnTo>
                  <a:lnTo>
                    <a:pt x="0" y="0"/>
                  </a:lnTo>
                  <a:close/>
                </a:path>
              </a:pathLst>
            </a:custGeom>
            <a:blipFill>
              <a:blip r:embed="rId5"/>
              <a:stretch>
                <a:fillRect l="0" t="0" r="0" b="0"/>
              </a:stretch>
            </a:blipFill>
          </p:spPr>
        </p:sp>
        <p:sp>
          <p:nvSpPr>
            <p:cNvPr name="Freeform 7" id="7"/>
            <p:cNvSpPr/>
            <p:nvPr/>
          </p:nvSpPr>
          <p:spPr>
            <a:xfrm flipH="false" flipV="false" rot="0">
              <a:off x="21709533" y="0"/>
              <a:ext cx="1371280" cy="1352425"/>
            </a:xfrm>
            <a:custGeom>
              <a:avLst/>
              <a:gdLst/>
              <a:ahLst/>
              <a:cxnLst/>
              <a:rect r="r" b="b" t="t" l="l"/>
              <a:pathLst>
                <a:path h="1352425" w="1371280">
                  <a:moveTo>
                    <a:pt x="0" y="0"/>
                  </a:moveTo>
                  <a:lnTo>
                    <a:pt x="1371281" y="0"/>
                  </a:lnTo>
                  <a:lnTo>
                    <a:pt x="1371281" y="1352425"/>
                  </a:lnTo>
                  <a:lnTo>
                    <a:pt x="0" y="1352425"/>
                  </a:lnTo>
                  <a:lnTo>
                    <a:pt x="0" y="0"/>
                  </a:lnTo>
                  <a:close/>
                </a:path>
              </a:pathLst>
            </a:custGeom>
            <a:blipFill>
              <a:blip r:embed="rId5"/>
              <a:stretch>
                <a:fillRect l="0" t="0" r="0" b="0"/>
              </a:stretch>
            </a:blipFill>
          </p:spPr>
        </p:sp>
        <p:sp>
          <p:nvSpPr>
            <p:cNvPr name="Freeform 8" id="8"/>
            <p:cNvSpPr/>
            <p:nvPr/>
          </p:nvSpPr>
          <p:spPr>
            <a:xfrm flipH="false" flipV="false" rot="0">
              <a:off x="21709533" y="10877432"/>
              <a:ext cx="1371280" cy="1352425"/>
            </a:xfrm>
            <a:custGeom>
              <a:avLst/>
              <a:gdLst/>
              <a:ahLst/>
              <a:cxnLst/>
              <a:rect r="r" b="b" t="t" l="l"/>
              <a:pathLst>
                <a:path h="1352425" w="1371280">
                  <a:moveTo>
                    <a:pt x="0" y="0"/>
                  </a:moveTo>
                  <a:lnTo>
                    <a:pt x="1371281" y="0"/>
                  </a:lnTo>
                  <a:lnTo>
                    <a:pt x="1371281" y="1352426"/>
                  </a:lnTo>
                  <a:lnTo>
                    <a:pt x="0" y="1352426"/>
                  </a:lnTo>
                  <a:lnTo>
                    <a:pt x="0" y="0"/>
                  </a:lnTo>
                  <a:close/>
                </a:path>
              </a:pathLst>
            </a:custGeom>
            <a:blipFill>
              <a:blip r:embed="rId5"/>
              <a:stretch>
                <a:fillRect l="0" t="0" r="0" b="0"/>
              </a:stretch>
            </a:blipFill>
          </p:spPr>
        </p:sp>
        <p:sp>
          <p:nvSpPr>
            <p:cNvPr name="Freeform 9" id="9"/>
            <p:cNvSpPr/>
            <p:nvPr/>
          </p:nvSpPr>
          <p:spPr>
            <a:xfrm flipH="false" flipV="false" rot="0">
              <a:off x="347614" y="10877432"/>
              <a:ext cx="1371280" cy="1352425"/>
            </a:xfrm>
            <a:custGeom>
              <a:avLst/>
              <a:gdLst/>
              <a:ahLst/>
              <a:cxnLst/>
              <a:rect r="r" b="b" t="t" l="l"/>
              <a:pathLst>
                <a:path h="1352425" w="1371280">
                  <a:moveTo>
                    <a:pt x="0" y="0"/>
                  </a:moveTo>
                  <a:lnTo>
                    <a:pt x="1371280" y="0"/>
                  </a:lnTo>
                  <a:lnTo>
                    <a:pt x="1371280" y="1352426"/>
                  </a:lnTo>
                  <a:lnTo>
                    <a:pt x="0" y="1352426"/>
                  </a:lnTo>
                  <a:lnTo>
                    <a:pt x="0" y="0"/>
                  </a:lnTo>
                  <a:close/>
                </a:path>
              </a:pathLst>
            </a:custGeom>
            <a:blipFill>
              <a:blip r:embed="rId5"/>
              <a:stretch>
                <a:fillRect l="0" t="0" r="0" b="0"/>
              </a:stretch>
            </a:blipFill>
          </p:spPr>
        </p:sp>
      </p:grpSp>
      <p:sp>
        <p:nvSpPr>
          <p:cNvPr name="Freeform 10" id="10"/>
          <p:cNvSpPr/>
          <p:nvPr/>
        </p:nvSpPr>
        <p:spPr>
          <a:xfrm flipH="false" flipV="false" rot="0">
            <a:off x="3726054" y="2435550"/>
            <a:ext cx="2645806" cy="6698243"/>
          </a:xfrm>
          <a:custGeom>
            <a:avLst/>
            <a:gdLst/>
            <a:ahLst/>
            <a:cxnLst/>
            <a:rect r="r" b="b" t="t" l="l"/>
            <a:pathLst>
              <a:path h="6698243" w="2645806">
                <a:moveTo>
                  <a:pt x="0" y="0"/>
                </a:moveTo>
                <a:lnTo>
                  <a:pt x="2645806" y="0"/>
                </a:lnTo>
                <a:lnTo>
                  <a:pt x="2645806" y="6698242"/>
                </a:lnTo>
                <a:lnTo>
                  <a:pt x="0" y="6698242"/>
                </a:lnTo>
                <a:lnTo>
                  <a:pt x="0" y="0"/>
                </a:lnTo>
                <a:close/>
              </a:path>
            </a:pathLst>
          </a:custGeom>
          <a:blipFill>
            <a:blip r:embed="rId6"/>
            <a:stretch>
              <a:fillRect l="0" t="0" r="0" b="0"/>
            </a:stretch>
          </a:blipFill>
        </p:spPr>
      </p:sp>
      <p:sp>
        <p:nvSpPr>
          <p:cNvPr name="Freeform 11" id="11"/>
          <p:cNvSpPr/>
          <p:nvPr/>
        </p:nvSpPr>
        <p:spPr>
          <a:xfrm flipH="false" flipV="false" rot="0">
            <a:off x="7696954" y="2435550"/>
            <a:ext cx="2894092" cy="6343216"/>
          </a:xfrm>
          <a:custGeom>
            <a:avLst/>
            <a:gdLst/>
            <a:ahLst/>
            <a:cxnLst/>
            <a:rect r="r" b="b" t="t" l="l"/>
            <a:pathLst>
              <a:path h="6343216" w="2894092">
                <a:moveTo>
                  <a:pt x="0" y="0"/>
                </a:moveTo>
                <a:lnTo>
                  <a:pt x="2894092" y="0"/>
                </a:lnTo>
                <a:lnTo>
                  <a:pt x="2894092" y="6343216"/>
                </a:lnTo>
                <a:lnTo>
                  <a:pt x="0" y="6343216"/>
                </a:lnTo>
                <a:lnTo>
                  <a:pt x="0" y="0"/>
                </a:lnTo>
                <a:close/>
              </a:path>
            </a:pathLst>
          </a:custGeom>
          <a:blipFill>
            <a:blip r:embed="rId7"/>
            <a:stretch>
              <a:fillRect l="0" t="0" r="0" b="0"/>
            </a:stretch>
          </a:blipFill>
        </p:spPr>
      </p:sp>
      <p:sp>
        <p:nvSpPr>
          <p:cNvPr name="Freeform 12" id="12"/>
          <p:cNvSpPr/>
          <p:nvPr/>
        </p:nvSpPr>
        <p:spPr>
          <a:xfrm flipH="false" flipV="false" rot="0">
            <a:off x="11915021" y="2421808"/>
            <a:ext cx="2955986" cy="6356958"/>
          </a:xfrm>
          <a:custGeom>
            <a:avLst/>
            <a:gdLst/>
            <a:ahLst/>
            <a:cxnLst/>
            <a:rect r="r" b="b" t="t" l="l"/>
            <a:pathLst>
              <a:path h="6356958" w="2955986">
                <a:moveTo>
                  <a:pt x="0" y="0"/>
                </a:moveTo>
                <a:lnTo>
                  <a:pt x="2955986" y="0"/>
                </a:lnTo>
                <a:lnTo>
                  <a:pt x="2955986" y="6356958"/>
                </a:lnTo>
                <a:lnTo>
                  <a:pt x="0" y="6356958"/>
                </a:lnTo>
                <a:lnTo>
                  <a:pt x="0" y="0"/>
                </a:lnTo>
                <a:close/>
              </a:path>
            </a:pathLst>
          </a:custGeom>
          <a:blipFill>
            <a:blip r:embed="rId8"/>
            <a:stretch>
              <a:fillRect l="0" t="0" r="0" b="0"/>
            </a:stretch>
          </a:blipFill>
        </p:spPr>
      </p:sp>
      <p:sp>
        <p:nvSpPr>
          <p:cNvPr name="TextBox 13" id="13"/>
          <p:cNvSpPr txBox="true"/>
          <p:nvPr/>
        </p:nvSpPr>
        <p:spPr>
          <a:xfrm rot="0">
            <a:off x="3477199" y="368219"/>
            <a:ext cx="11333602" cy="1103688"/>
          </a:xfrm>
          <a:prstGeom prst="rect">
            <a:avLst/>
          </a:prstGeom>
        </p:spPr>
        <p:txBody>
          <a:bodyPr anchor="t" rtlCol="false" tIns="0" lIns="0" bIns="0" rIns="0">
            <a:spAutoFit/>
          </a:bodyPr>
          <a:lstStyle/>
          <a:p>
            <a:pPr algn="ctr">
              <a:lnSpc>
                <a:spcPts val="4228"/>
              </a:lnSpc>
            </a:pPr>
            <a:r>
              <a:rPr lang="en-US" sz="3020">
                <a:solidFill>
                  <a:srgbClr val="000000"/>
                </a:solidFill>
                <a:latin typeface="Kaftus"/>
                <a:ea typeface="Kaftus"/>
                <a:cs typeface="Kaftus"/>
                <a:sym typeface="Kaftus"/>
              </a:rPr>
              <a:t>PELANGGAN</a:t>
            </a:r>
          </a:p>
          <a:p>
            <a:pPr algn="ctr">
              <a:lnSpc>
                <a:spcPts val="4228"/>
              </a:lnSpc>
              <a:spcBef>
                <a:spcPct val="0"/>
              </a:spcBef>
            </a:pPr>
            <a:r>
              <a:rPr lang="en-US" sz="3020">
                <a:solidFill>
                  <a:srgbClr val="000000"/>
                </a:solidFill>
                <a:latin typeface="Kaftus"/>
                <a:ea typeface="Kaftus"/>
                <a:cs typeface="Kaftus"/>
                <a:sym typeface="Kaftus"/>
              </a:rPr>
              <a:t>(Form pemesanan, Pembayaran, Status &amp; Riwayat)</a:t>
            </a:r>
          </a:p>
        </p:txBody>
      </p:sp>
      <p:sp>
        <p:nvSpPr>
          <p:cNvPr name="TextBox 14" id="14"/>
          <p:cNvSpPr txBox="true"/>
          <p:nvPr/>
        </p:nvSpPr>
        <p:spPr>
          <a:xfrm rot="0">
            <a:off x="3477199" y="1702382"/>
            <a:ext cx="3597871" cy="481330"/>
          </a:xfrm>
          <a:prstGeom prst="rect">
            <a:avLst/>
          </a:prstGeom>
        </p:spPr>
        <p:txBody>
          <a:bodyPr anchor="t" rtlCol="false" tIns="0" lIns="0" bIns="0" rIns="0">
            <a:spAutoFit/>
          </a:bodyPr>
          <a:lstStyle/>
          <a:p>
            <a:pPr algn="ctr" marL="604519" indent="-302260" lvl="1">
              <a:lnSpc>
                <a:spcPts val="3919"/>
              </a:lnSpc>
              <a:buFont typeface="Arial"/>
              <a:buChar char="•"/>
            </a:pPr>
            <a:r>
              <a:rPr lang="en-US" b="true" sz="2799">
                <a:solidFill>
                  <a:srgbClr val="000000"/>
                </a:solidFill>
                <a:latin typeface="Canva Sans Bold"/>
                <a:ea typeface="Canva Sans Bold"/>
                <a:cs typeface="Canva Sans Bold"/>
                <a:sym typeface="Canva Sans Bold"/>
              </a:rPr>
              <a:t>Form pemesanan</a:t>
            </a:r>
          </a:p>
        </p:txBody>
      </p:sp>
      <p:sp>
        <p:nvSpPr>
          <p:cNvPr name="TextBox 15" id="15"/>
          <p:cNvSpPr txBox="true"/>
          <p:nvPr/>
        </p:nvSpPr>
        <p:spPr>
          <a:xfrm rot="0">
            <a:off x="7696954" y="1702382"/>
            <a:ext cx="2769791" cy="481330"/>
          </a:xfrm>
          <a:prstGeom prst="rect">
            <a:avLst/>
          </a:prstGeom>
        </p:spPr>
        <p:txBody>
          <a:bodyPr anchor="t" rtlCol="false" tIns="0" lIns="0" bIns="0" rIns="0">
            <a:spAutoFit/>
          </a:bodyPr>
          <a:lstStyle/>
          <a:p>
            <a:pPr algn="ctr" marL="604519" indent="-302260" lvl="1">
              <a:lnSpc>
                <a:spcPts val="3919"/>
              </a:lnSpc>
              <a:buFont typeface="Arial"/>
              <a:buChar char="•"/>
            </a:pPr>
            <a:r>
              <a:rPr lang="en-US" b="true" sz="2799">
                <a:solidFill>
                  <a:srgbClr val="000000"/>
                </a:solidFill>
                <a:latin typeface="Canva Sans Bold"/>
                <a:ea typeface="Canva Sans Bold"/>
                <a:cs typeface="Canva Sans Bold"/>
                <a:sym typeface="Canva Sans Bold"/>
              </a:rPr>
              <a:t>Pembayaran</a:t>
            </a:r>
          </a:p>
        </p:txBody>
      </p:sp>
      <p:sp>
        <p:nvSpPr>
          <p:cNvPr name="TextBox 16" id="16"/>
          <p:cNvSpPr txBox="true"/>
          <p:nvPr/>
        </p:nvSpPr>
        <p:spPr>
          <a:xfrm rot="0">
            <a:off x="11709140" y="1702382"/>
            <a:ext cx="5344279" cy="431800"/>
          </a:xfrm>
          <a:prstGeom prst="rect">
            <a:avLst/>
          </a:prstGeom>
        </p:spPr>
        <p:txBody>
          <a:bodyPr anchor="t" rtlCol="false" tIns="0" lIns="0" bIns="0" rIns="0">
            <a:spAutoFit/>
          </a:bodyPr>
          <a:lstStyle/>
          <a:p>
            <a:pPr algn="ctr" marL="539751" indent="-269876" lvl="1">
              <a:lnSpc>
                <a:spcPts val="3500"/>
              </a:lnSpc>
              <a:buFont typeface="Arial"/>
              <a:buChar char="•"/>
            </a:pPr>
            <a:r>
              <a:rPr lang="en-US" b="true" sz="2500">
                <a:solidFill>
                  <a:srgbClr val="000000"/>
                </a:solidFill>
                <a:latin typeface="Canva Sans Bold"/>
                <a:ea typeface="Canva Sans Bold"/>
                <a:cs typeface="Canva Sans Bold"/>
                <a:sym typeface="Canva Sans Bold"/>
              </a:rPr>
              <a:t>Status &amp; Riwayat Pesanan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61275" y="0"/>
            <a:ext cx="17565450" cy="9885254"/>
            <a:chOff x="0" y="0"/>
            <a:chExt cx="23420600" cy="13180338"/>
          </a:xfrm>
        </p:grpSpPr>
        <p:sp>
          <p:nvSpPr>
            <p:cNvPr name="Freeform 4" id="4"/>
            <p:cNvSpPr/>
            <p:nvPr/>
          </p:nvSpPr>
          <p:spPr>
            <a:xfrm flipH="false" flipV="false" rot="0">
              <a:off x="0" y="272768"/>
              <a:ext cx="14169987" cy="12907570"/>
            </a:xfrm>
            <a:custGeom>
              <a:avLst/>
              <a:gdLst/>
              <a:ahLst/>
              <a:cxnLst/>
              <a:rect r="r" b="b" t="t" l="l"/>
              <a:pathLst>
                <a:path h="12907570" w="14169987">
                  <a:moveTo>
                    <a:pt x="0" y="0"/>
                  </a:moveTo>
                  <a:lnTo>
                    <a:pt x="14169987" y="0"/>
                  </a:lnTo>
                  <a:lnTo>
                    <a:pt x="14169987" y="12907570"/>
                  </a:lnTo>
                  <a:lnTo>
                    <a:pt x="0" y="12907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250614" y="0"/>
              <a:ext cx="14169987" cy="12907570"/>
            </a:xfrm>
            <a:custGeom>
              <a:avLst/>
              <a:gdLst/>
              <a:ahLst/>
              <a:cxnLst/>
              <a:rect r="r" b="b" t="t" l="l"/>
              <a:pathLst>
                <a:path h="12907570" w="14169987">
                  <a:moveTo>
                    <a:pt x="0" y="0"/>
                  </a:moveTo>
                  <a:lnTo>
                    <a:pt x="14169986" y="0"/>
                  </a:lnTo>
                  <a:lnTo>
                    <a:pt x="14169986" y="12907570"/>
                  </a:lnTo>
                  <a:lnTo>
                    <a:pt x="0" y="12907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47614" y="46037"/>
              <a:ext cx="1371280" cy="1352425"/>
            </a:xfrm>
            <a:custGeom>
              <a:avLst/>
              <a:gdLst/>
              <a:ahLst/>
              <a:cxnLst/>
              <a:rect r="r" b="b" t="t" l="l"/>
              <a:pathLst>
                <a:path h="1352425" w="1371280">
                  <a:moveTo>
                    <a:pt x="0" y="0"/>
                  </a:moveTo>
                  <a:lnTo>
                    <a:pt x="1371280" y="0"/>
                  </a:lnTo>
                  <a:lnTo>
                    <a:pt x="1371280" y="1352425"/>
                  </a:lnTo>
                  <a:lnTo>
                    <a:pt x="0" y="1352425"/>
                  </a:lnTo>
                  <a:lnTo>
                    <a:pt x="0" y="0"/>
                  </a:lnTo>
                  <a:close/>
                </a:path>
              </a:pathLst>
            </a:custGeom>
            <a:blipFill>
              <a:blip r:embed="rId5"/>
              <a:stretch>
                <a:fillRect l="0" t="0" r="0" b="0"/>
              </a:stretch>
            </a:blipFill>
          </p:spPr>
        </p:sp>
        <p:sp>
          <p:nvSpPr>
            <p:cNvPr name="Freeform 7" id="7"/>
            <p:cNvSpPr/>
            <p:nvPr/>
          </p:nvSpPr>
          <p:spPr>
            <a:xfrm flipH="false" flipV="false" rot="0">
              <a:off x="21709533" y="0"/>
              <a:ext cx="1371280" cy="1352425"/>
            </a:xfrm>
            <a:custGeom>
              <a:avLst/>
              <a:gdLst/>
              <a:ahLst/>
              <a:cxnLst/>
              <a:rect r="r" b="b" t="t" l="l"/>
              <a:pathLst>
                <a:path h="1352425" w="1371280">
                  <a:moveTo>
                    <a:pt x="0" y="0"/>
                  </a:moveTo>
                  <a:lnTo>
                    <a:pt x="1371281" y="0"/>
                  </a:lnTo>
                  <a:lnTo>
                    <a:pt x="1371281" y="1352425"/>
                  </a:lnTo>
                  <a:lnTo>
                    <a:pt x="0" y="1352425"/>
                  </a:lnTo>
                  <a:lnTo>
                    <a:pt x="0" y="0"/>
                  </a:lnTo>
                  <a:close/>
                </a:path>
              </a:pathLst>
            </a:custGeom>
            <a:blipFill>
              <a:blip r:embed="rId5"/>
              <a:stretch>
                <a:fillRect l="0" t="0" r="0" b="0"/>
              </a:stretch>
            </a:blipFill>
          </p:spPr>
        </p:sp>
        <p:sp>
          <p:nvSpPr>
            <p:cNvPr name="Freeform 8" id="8"/>
            <p:cNvSpPr/>
            <p:nvPr/>
          </p:nvSpPr>
          <p:spPr>
            <a:xfrm flipH="false" flipV="false" rot="0">
              <a:off x="21709533" y="10877432"/>
              <a:ext cx="1371280" cy="1352425"/>
            </a:xfrm>
            <a:custGeom>
              <a:avLst/>
              <a:gdLst/>
              <a:ahLst/>
              <a:cxnLst/>
              <a:rect r="r" b="b" t="t" l="l"/>
              <a:pathLst>
                <a:path h="1352425" w="1371280">
                  <a:moveTo>
                    <a:pt x="0" y="0"/>
                  </a:moveTo>
                  <a:lnTo>
                    <a:pt x="1371281" y="0"/>
                  </a:lnTo>
                  <a:lnTo>
                    <a:pt x="1371281" y="1352426"/>
                  </a:lnTo>
                  <a:lnTo>
                    <a:pt x="0" y="1352426"/>
                  </a:lnTo>
                  <a:lnTo>
                    <a:pt x="0" y="0"/>
                  </a:lnTo>
                  <a:close/>
                </a:path>
              </a:pathLst>
            </a:custGeom>
            <a:blipFill>
              <a:blip r:embed="rId5"/>
              <a:stretch>
                <a:fillRect l="0" t="0" r="0" b="0"/>
              </a:stretch>
            </a:blipFill>
          </p:spPr>
        </p:sp>
        <p:sp>
          <p:nvSpPr>
            <p:cNvPr name="Freeform 9" id="9"/>
            <p:cNvSpPr/>
            <p:nvPr/>
          </p:nvSpPr>
          <p:spPr>
            <a:xfrm flipH="false" flipV="false" rot="0">
              <a:off x="347614" y="10877432"/>
              <a:ext cx="1371280" cy="1352425"/>
            </a:xfrm>
            <a:custGeom>
              <a:avLst/>
              <a:gdLst/>
              <a:ahLst/>
              <a:cxnLst/>
              <a:rect r="r" b="b" t="t" l="l"/>
              <a:pathLst>
                <a:path h="1352425" w="1371280">
                  <a:moveTo>
                    <a:pt x="0" y="0"/>
                  </a:moveTo>
                  <a:lnTo>
                    <a:pt x="1371280" y="0"/>
                  </a:lnTo>
                  <a:lnTo>
                    <a:pt x="1371280" y="1352426"/>
                  </a:lnTo>
                  <a:lnTo>
                    <a:pt x="0" y="1352426"/>
                  </a:lnTo>
                  <a:lnTo>
                    <a:pt x="0" y="0"/>
                  </a:lnTo>
                  <a:close/>
                </a:path>
              </a:pathLst>
            </a:custGeom>
            <a:blipFill>
              <a:blip r:embed="rId5"/>
              <a:stretch>
                <a:fillRect l="0" t="0" r="0" b="0"/>
              </a:stretch>
            </a:blipFill>
          </p:spPr>
        </p:sp>
      </p:grpSp>
      <p:sp>
        <p:nvSpPr>
          <p:cNvPr name="Freeform 10" id="10"/>
          <p:cNvSpPr/>
          <p:nvPr/>
        </p:nvSpPr>
        <p:spPr>
          <a:xfrm flipH="false" flipV="false" rot="0">
            <a:off x="4440026" y="2469462"/>
            <a:ext cx="2955986" cy="6356958"/>
          </a:xfrm>
          <a:custGeom>
            <a:avLst/>
            <a:gdLst/>
            <a:ahLst/>
            <a:cxnLst/>
            <a:rect r="r" b="b" t="t" l="l"/>
            <a:pathLst>
              <a:path h="6356958" w="2955986">
                <a:moveTo>
                  <a:pt x="0" y="0"/>
                </a:moveTo>
                <a:lnTo>
                  <a:pt x="2955986" y="0"/>
                </a:lnTo>
                <a:lnTo>
                  <a:pt x="2955986" y="6356958"/>
                </a:lnTo>
                <a:lnTo>
                  <a:pt x="0" y="6356958"/>
                </a:lnTo>
                <a:lnTo>
                  <a:pt x="0" y="0"/>
                </a:lnTo>
                <a:close/>
              </a:path>
            </a:pathLst>
          </a:custGeom>
          <a:blipFill>
            <a:blip r:embed="rId6"/>
            <a:stretch>
              <a:fillRect l="0" t="0" r="0" b="0"/>
            </a:stretch>
          </a:blipFill>
        </p:spPr>
      </p:sp>
      <p:sp>
        <p:nvSpPr>
          <p:cNvPr name="Freeform 11" id="11"/>
          <p:cNvSpPr/>
          <p:nvPr/>
        </p:nvSpPr>
        <p:spPr>
          <a:xfrm flipH="false" flipV="false" rot="0">
            <a:off x="10161186" y="2469462"/>
            <a:ext cx="2955986" cy="6356958"/>
          </a:xfrm>
          <a:custGeom>
            <a:avLst/>
            <a:gdLst/>
            <a:ahLst/>
            <a:cxnLst/>
            <a:rect r="r" b="b" t="t" l="l"/>
            <a:pathLst>
              <a:path h="6356958" w="2955986">
                <a:moveTo>
                  <a:pt x="0" y="0"/>
                </a:moveTo>
                <a:lnTo>
                  <a:pt x="2955986" y="0"/>
                </a:lnTo>
                <a:lnTo>
                  <a:pt x="2955986" y="6356958"/>
                </a:lnTo>
                <a:lnTo>
                  <a:pt x="0" y="6356958"/>
                </a:lnTo>
                <a:lnTo>
                  <a:pt x="0" y="0"/>
                </a:lnTo>
                <a:close/>
              </a:path>
            </a:pathLst>
          </a:custGeom>
          <a:blipFill>
            <a:blip r:embed="rId7"/>
            <a:stretch>
              <a:fillRect l="0" t="0" r="0" b="0"/>
            </a:stretch>
          </a:blipFill>
        </p:spPr>
      </p:sp>
      <p:sp>
        <p:nvSpPr>
          <p:cNvPr name="TextBox 12" id="12"/>
          <p:cNvSpPr txBox="true"/>
          <p:nvPr/>
        </p:nvSpPr>
        <p:spPr>
          <a:xfrm rot="0">
            <a:off x="5170828" y="368219"/>
            <a:ext cx="7946344" cy="1103688"/>
          </a:xfrm>
          <a:prstGeom prst="rect">
            <a:avLst/>
          </a:prstGeom>
        </p:spPr>
        <p:txBody>
          <a:bodyPr anchor="t" rtlCol="false" tIns="0" lIns="0" bIns="0" rIns="0">
            <a:spAutoFit/>
          </a:bodyPr>
          <a:lstStyle/>
          <a:p>
            <a:pPr algn="ctr">
              <a:lnSpc>
                <a:spcPts val="4228"/>
              </a:lnSpc>
            </a:pPr>
            <a:r>
              <a:rPr lang="en-US" sz="3020">
                <a:solidFill>
                  <a:srgbClr val="000000"/>
                </a:solidFill>
                <a:latin typeface="Kaftus"/>
                <a:ea typeface="Kaftus"/>
                <a:cs typeface="Kaftus"/>
                <a:sym typeface="Kaftus"/>
              </a:rPr>
              <a:t>ADMIN</a:t>
            </a:r>
          </a:p>
          <a:p>
            <a:pPr algn="ctr">
              <a:lnSpc>
                <a:spcPts val="4228"/>
              </a:lnSpc>
              <a:spcBef>
                <a:spcPct val="0"/>
              </a:spcBef>
            </a:pPr>
            <a:r>
              <a:rPr lang="en-US" sz="3020">
                <a:solidFill>
                  <a:srgbClr val="000000"/>
                </a:solidFill>
                <a:latin typeface="Kaftus"/>
                <a:ea typeface="Kaftus"/>
                <a:cs typeface="Kaftus"/>
                <a:sym typeface="Kaftus"/>
              </a:rPr>
              <a:t>(Halaman Utama &amp; Kelola Layanan)</a:t>
            </a:r>
          </a:p>
        </p:txBody>
      </p:sp>
      <p:sp>
        <p:nvSpPr>
          <p:cNvPr name="TextBox 13" id="13"/>
          <p:cNvSpPr txBox="true"/>
          <p:nvPr/>
        </p:nvSpPr>
        <p:spPr>
          <a:xfrm rot="0">
            <a:off x="4221775" y="1701444"/>
            <a:ext cx="3392488" cy="481330"/>
          </a:xfrm>
          <a:prstGeom prst="rect">
            <a:avLst/>
          </a:prstGeom>
        </p:spPr>
        <p:txBody>
          <a:bodyPr anchor="t" rtlCol="false" tIns="0" lIns="0" bIns="0" rIns="0">
            <a:spAutoFit/>
          </a:bodyPr>
          <a:lstStyle/>
          <a:p>
            <a:pPr algn="ctr" marL="604519" indent="-302260" lvl="1">
              <a:lnSpc>
                <a:spcPts val="3919"/>
              </a:lnSpc>
              <a:buFont typeface="Arial"/>
              <a:buChar char="•"/>
            </a:pPr>
            <a:r>
              <a:rPr lang="en-US" b="true" sz="2799">
                <a:solidFill>
                  <a:srgbClr val="000000"/>
                </a:solidFill>
                <a:latin typeface="Canva Sans Bold"/>
                <a:ea typeface="Canva Sans Bold"/>
                <a:cs typeface="Canva Sans Bold"/>
                <a:sym typeface="Canva Sans Bold"/>
              </a:rPr>
              <a:t>Halaman Utama</a:t>
            </a:r>
          </a:p>
        </p:txBody>
      </p:sp>
      <p:sp>
        <p:nvSpPr>
          <p:cNvPr name="TextBox 14" id="14"/>
          <p:cNvSpPr txBox="true"/>
          <p:nvPr/>
        </p:nvSpPr>
        <p:spPr>
          <a:xfrm rot="0">
            <a:off x="9888495" y="1701444"/>
            <a:ext cx="3228677" cy="481330"/>
          </a:xfrm>
          <a:prstGeom prst="rect">
            <a:avLst/>
          </a:prstGeom>
        </p:spPr>
        <p:txBody>
          <a:bodyPr anchor="t" rtlCol="false" tIns="0" lIns="0" bIns="0" rIns="0">
            <a:spAutoFit/>
          </a:bodyPr>
          <a:lstStyle/>
          <a:p>
            <a:pPr algn="ctr" marL="604519" indent="-302260" lvl="1">
              <a:lnSpc>
                <a:spcPts val="3919"/>
              </a:lnSpc>
              <a:buFont typeface="Arial"/>
              <a:buChar char="•"/>
            </a:pPr>
            <a:r>
              <a:rPr lang="en-US" b="true" sz="2799">
                <a:solidFill>
                  <a:srgbClr val="000000"/>
                </a:solidFill>
                <a:latin typeface="Canva Sans Bold"/>
                <a:ea typeface="Canva Sans Bold"/>
                <a:cs typeface="Canva Sans Bold"/>
                <a:sym typeface="Canva Sans Bold"/>
              </a:rPr>
              <a:t>Kelola Layanan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61275" y="0"/>
            <a:ext cx="17565450" cy="9885254"/>
            <a:chOff x="0" y="0"/>
            <a:chExt cx="23420600" cy="13180338"/>
          </a:xfrm>
        </p:grpSpPr>
        <p:sp>
          <p:nvSpPr>
            <p:cNvPr name="Freeform 4" id="4"/>
            <p:cNvSpPr/>
            <p:nvPr/>
          </p:nvSpPr>
          <p:spPr>
            <a:xfrm flipH="false" flipV="false" rot="0">
              <a:off x="0" y="272768"/>
              <a:ext cx="14169987" cy="12907570"/>
            </a:xfrm>
            <a:custGeom>
              <a:avLst/>
              <a:gdLst/>
              <a:ahLst/>
              <a:cxnLst/>
              <a:rect r="r" b="b" t="t" l="l"/>
              <a:pathLst>
                <a:path h="12907570" w="14169987">
                  <a:moveTo>
                    <a:pt x="0" y="0"/>
                  </a:moveTo>
                  <a:lnTo>
                    <a:pt x="14169987" y="0"/>
                  </a:lnTo>
                  <a:lnTo>
                    <a:pt x="14169987" y="12907570"/>
                  </a:lnTo>
                  <a:lnTo>
                    <a:pt x="0" y="12907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250614" y="0"/>
              <a:ext cx="14169987" cy="12907570"/>
            </a:xfrm>
            <a:custGeom>
              <a:avLst/>
              <a:gdLst/>
              <a:ahLst/>
              <a:cxnLst/>
              <a:rect r="r" b="b" t="t" l="l"/>
              <a:pathLst>
                <a:path h="12907570" w="14169987">
                  <a:moveTo>
                    <a:pt x="0" y="0"/>
                  </a:moveTo>
                  <a:lnTo>
                    <a:pt x="14169986" y="0"/>
                  </a:lnTo>
                  <a:lnTo>
                    <a:pt x="14169986" y="12907570"/>
                  </a:lnTo>
                  <a:lnTo>
                    <a:pt x="0" y="12907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47614" y="46037"/>
              <a:ext cx="1371280" cy="1352425"/>
            </a:xfrm>
            <a:custGeom>
              <a:avLst/>
              <a:gdLst/>
              <a:ahLst/>
              <a:cxnLst/>
              <a:rect r="r" b="b" t="t" l="l"/>
              <a:pathLst>
                <a:path h="1352425" w="1371280">
                  <a:moveTo>
                    <a:pt x="0" y="0"/>
                  </a:moveTo>
                  <a:lnTo>
                    <a:pt x="1371280" y="0"/>
                  </a:lnTo>
                  <a:lnTo>
                    <a:pt x="1371280" y="1352425"/>
                  </a:lnTo>
                  <a:lnTo>
                    <a:pt x="0" y="1352425"/>
                  </a:lnTo>
                  <a:lnTo>
                    <a:pt x="0" y="0"/>
                  </a:lnTo>
                  <a:close/>
                </a:path>
              </a:pathLst>
            </a:custGeom>
            <a:blipFill>
              <a:blip r:embed="rId5"/>
              <a:stretch>
                <a:fillRect l="0" t="0" r="0" b="0"/>
              </a:stretch>
            </a:blipFill>
          </p:spPr>
        </p:sp>
        <p:sp>
          <p:nvSpPr>
            <p:cNvPr name="Freeform 7" id="7"/>
            <p:cNvSpPr/>
            <p:nvPr/>
          </p:nvSpPr>
          <p:spPr>
            <a:xfrm flipH="false" flipV="false" rot="0">
              <a:off x="21709533" y="0"/>
              <a:ext cx="1371280" cy="1352425"/>
            </a:xfrm>
            <a:custGeom>
              <a:avLst/>
              <a:gdLst/>
              <a:ahLst/>
              <a:cxnLst/>
              <a:rect r="r" b="b" t="t" l="l"/>
              <a:pathLst>
                <a:path h="1352425" w="1371280">
                  <a:moveTo>
                    <a:pt x="0" y="0"/>
                  </a:moveTo>
                  <a:lnTo>
                    <a:pt x="1371281" y="0"/>
                  </a:lnTo>
                  <a:lnTo>
                    <a:pt x="1371281" y="1352425"/>
                  </a:lnTo>
                  <a:lnTo>
                    <a:pt x="0" y="1352425"/>
                  </a:lnTo>
                  <a:lnTo>
                    <a:pt x="0" y="0"/>
                  </a:lnTo>
                  <a:close/>
                </a:path>
              </a:pathLst>
            </a:custGeom>
            <a:blipFill>
              <a:blip r:embed="rId5"/>
              <a:stretch>
                <a:fillRect l="0" t="0" r="0" b="0"/>
              </a:stretch>
            </a:blipFill>
          </p:spPr>
        </p:sp>
        <p:sp>
          <p:nvSpPr>
            <p:cNvPr name="Freeform 8" id="8"/>
            <p:cNvSpPr/>
            <p:nvPr/>
          </p:nvSpPr>
          <p:spPr>
            <a:xfrm flipH="false" flipV="false" rot="0">
              <a:off x="21709533" y="10877432"/>
              <a:ext cx="1371280" cy="1352425"/>
            </a:xfrm>
            <a:custGeom>
              <a:avLst/>
              <a:gdLst/>
              <a:ahLst/>
              <a:cxnLst/>
              <a:rect r="r" b="b" t="t" l="l"/>
              <a:pathLst>
                <a:path h="1352425" w="1371280">
                  <a:moveTo>
                    <a:pt x="0" y="0"/>
                  </a:moveTo>
                  <a:lnTo>
                    <a:pt x="1371281" y="0"/>
                  </a:lnTo>
                  <a:lnTo>
                    <a:pt x="1371281" y="1352426"/>
                  </a:lnTo>
                  <a:lnTo>
                    <a:pt x="0" y="1352426"/>
                  </a:lnTo>
                  <a:lnTo>
                    <a:pt x="0" y="0"/>
                  </a:lnTo>
                  <a:close/>
                </a:path>
              </a:pathLst>
            </a:custGeom>
            <a:blipFill>
              <a:blip r:embed="rId5"/>
              <a:stretch>
                <a:fillRect l="0" t="0" r="0" b="0"/>
              </a:stretch>
            </a:blipFill>
          </p:spPr>
        </p:sp>
        <p:sp>
          <p:nvSpPr>
            <p:cNvPr name="Freeform 9" id="9"/>
            <p:cNvSpPr/>
            <p:nvPr/>
          </p:nvSpPr>
          <p:spPr>
            <a:xfrm flipH="false" flipV="false" rot="0">
              <a:off x="347614" y="10877432"/>
              <a:ext cx="1371280" cy="1352425"/>
            </a:xfrm>
            <a:custGeom>
              <a:avLst/>
              <a:gdLst/>
              <a:ahLst/>
              <a:cxnLst/>
              <a:rect r="r" b="b" t="t" l="l"/>
              <a:pathLst>
                <a:path h="1352425" w="1371280">
                  <a:moveTo>
                    <a:pt x="0" y="0"/>
                  </a:moveTo>
                  <a:lnTo>
                    <a:pt x="1371280" y="0"/>
                  </a:lnTo>
                  <a:lnTo>
                    <a:pt x="1371280" y="1352426"/>
                  </a:lnTo>
                  <a:lnTo>
                    <a:pt x="0" y="1352426"/>
                  </a:lnTo>
                  <a:lnTo>
                    <a:pt x="0" y="0"/>
                  </a:lnTo>
                  <a:close/>
                </a:path>
              </a:pathLst>
            </a:custGeom>
            <a:blipFill>
              <a:blip r:embed="rId5"/>
              <a:stretch>
                <a:fillRect l="0" t="0" r="0" b="0"/>
              </a:stretch>
            </a:blipFill>
          </p:spPr>
        </p:sp>
      </p:grpSp>
      <p:sp>
        <p:nvSpPr>
          <p:cNvPr name="Freeform 10" id="10"/>
          <p:cNvSpPr/>
          <p:nvPr/>
        </p:nvSpPr>
        <p:spPr>
          <a:xfrm flipH="false" flipV="false" rot="0">
            <a:off x="4658277" y="2469462"/>
            <a:ext cx="2955986" cy="6356958"/>
          </a:xfrm>
          <a:custGeom>
            <a:avLst/>
            <a:gdLst/>
            <a:ahLst/>
            <a:cxnLst/>
            <a:rect r="r" b="b" t="t" l="l"/>
            <a:pathLst>
              <a:path h="6356958" w="2955986">
                <a:moveTo>
                  <a:pt x="0" y="0"/>
                </a:moveTo>
                <a:lnTo>
                  <a:pt x="2955986" y="0"/>
                </a:lnTo>
                <a:lnTo>
                  <a:pt x="2955986" y="6356958"/>
                </a:lnTo>
                <a:lnTo>
                  <a:pt x="0" y="6356958"/>
                </a:lnTo>
                <a:lnTo>
                  <a:pt x="0" y="0"/>
                </a:lnTo>
                <a:close/>
              </a:path>
            </a:pathLst>
          </a:custGeom>
          <a:blipFill>
            <a:blip r:embed="rId6"/>
            <a:stretch>
              <a:fillRect l="0" t="0" r="0" b="0"/>
            </a:stretch>
          </a:blipFill>
        </p:spPr>
      </p:sp>
      <p:sp>
        <p:nvSpPr>
          <p:cNvPr name="Freeform 11" id="11"/>
          <p:cNvSpPr/>
          <p:nvPr/>
        </p:nvSpPr>
        <p:spPr>
          <a:xfrm flipH="false" flipV="false" rot="0">
            <a:off x="10376770" y="2468524"/>
            <a:ext cx="2955986" cy="6356958"/>
          </a:xfrm>
          <a:custGeom>
            <a:avLst/>
            <a:gdLst/>
            <a:ahLst/>
            <a:cxnLst/>
            <a:rect r="r" b="b" t="t" l="l"/>
            <a:pathLst>
              <a:path h="6356958" w="2955986">
                <a:moveTo>
                  <a:pt x="0" y="0"/>
                </a:moveTo>
                <a:lnTo>
                  <a:pt x="2955986" y="0"/>
                </a:lnTo>
                <a:lnTo>
                  <a:pt x="2955986" y="6356958"/>
                </a:lnTo>
                <a:lnTo>
                  <a:pt x="0" y="6356958"/>
                </a:lnTo>
                <a:lnTo>
                  <a:pt x="0" y="0"/>
                </a:lnTo>
                <a:close/>
              </a:path>
            </a:pathLst>
          </a:custGeom>
          <a:blipFill>
            <a:blip r:embed="rId7"/>
            <a:stretch>
              <a:fillRect l="0" t="0" r="0" b="0"/>
            </a:stretch>
          </a:blipFill>
        </p:spPr>
      </p:sp>
      <p:sp>
        <p:nvSpPr>
          <p:cNvPr name="TextBox 12" id="12"/>
          <p:cNvSpPr txBox="true"/>
          <p:nvPr/>
        </p:nvSpPr>
        <p:spPr>
          <a:xfrm rot="0">
            <a:off x="4807788" y="368219"/>
            <a:ext cx="8672425" cy="1103688"/>
          </a:xfrm>
          <a:prstGeom prst="rect">
            <a:avLst/>
          </a:prstGeom>
        </p:spPr>
        <p:txBody>
          <a:bodyPr anchor="t" rtlCol="false" tIns="0" lIns="0" bIns="0" rIns="0">
            <a:spAutoFit/>
          </a:bodyPr>
          <a:lstStyle/>
          <a:p>
            <a:pPr algn="ctr">
              <a:lnSpc>
                <a:spcPts val="4228"/>
              </a:lnSpc>
            </a:pPr>
            <a:r>
              <a:rPr lang="en-US" sz="3020">
                <a:solidFill>
                  <a:srgbClr val="000000"/>
                </a:solidFill>
                <a:latin typeface="Kaftus"/>
                <a:ea typeface="Kaftus"/>
                <a:cs typeface="Kaftus"/>
                <a:sym typeface="Kaftus"/>
              </a:rPr>
              <a:t>ADMIN</a:t>
            </a:r>
          </a:p>
          <a:p>
            <a:pPr algn="ctr">
              <a:lnSpc>
                <a:spcPts val="4228"/>
              </a:lnSpc>
              <a:spcBef>
                <a:spcPct val="0"/>
              </a:spcBef>
            </a:pPr>
            <a:r>
              <a:rPr lang="en-US" sz="3020">
                <a:solidFill>
                  <a:srgbClr val="000000"/>
                </a:solidFill>
                <a:latin typeface="Kaftus"/>
                <a:ea typeface="Kaftus"/>
                <a:cs typeface="Kaftus"/>
                <a:sym typeface="Kaftus"/>
              </a:rPr>
              <a:t>(Kelola Pesanan &amp; Kelola Pembayaran)</a:t>
            </a:r>
          </a:p>
        </p:txBody>
      </p:sp>
      <p:sp>
        <p:nvSpPr>
          <p:cNvPr name="TextBox 13" id="13"/>
          <p:cNvSpPr txBox="true"/>
          <p:nvPr/>
        </p:nvSpPr>
        <p:spPr>
          <a:xfrm rot="0">
            <a:off x="4521485" y="1701444"/>
            <a:ext cx="3229570" cy="481330"/>
          </a:xfrm>
          <a:prstGeom prst="rect">
            <a:avLst/>
          </a:prstGeom>
        </p:spPr>
        <p:txBody>
          <a:bodyPr anchor="t" rtlCol="false" tIns="0" lIns="0" bIns="0" rIns="0">
            <a:spAutoFit/>
          </a:bodyPr>
          <a:lstStyle/>
          <a:p>
            <a:pPr algn="ctr" marL="604519" indent="-302260" lvl="1">
              <a:lnSpc>
                <a:spcPts val="3919"/>
              </a:lnSpc>
              <a:buFont typeface="Arial"/>
              <a:buChar char="•"/>
            </a:pPr>
            <a:r>
              <a:rPr lang="en-US" b="true" sz="2799">
                <a:solidFill>
                  <a:srgbClr val="000000"/>
                </a:solidFill>
                <a:latin typeface="Canva Sans Bold"/>
                <a:ea typeface="Canva Sans Bold"/>
                <a:cs typeface="Canva Sans Bold"/>
                <a:sym typeface="Canva Sans Bold"/>
              </a:rPr>
              <a:t>Kelola Pesanan</a:t>
            </a:r>
          </a:p>
        </p:txBody>
      </p:sp>
      <p:sp>
        <p:nvSpPr>
          <p:cNvPr name="TextBox 14" id="14"/>
          <p:cNvSpPr txBox="true"/>
          <p:nvPr/>
        </p:nvSpPr>
        <p:spPr>
          <a:xfrm rot="0">
            <a:off x="10102263" y="1701444"/>
            <a:ext cx="3935909" cy="481330"/>
          </a:xfrm>
          <a:prstGeom prst="rect">
            <a:avLst/>
          </a:prstGeom>
        </p:spPr>
        <p:txBody>
          <a:bodyPr anchor="t" rtlCol="false" tIns="0" lIns="0" bIns="0" rIns="0">
            <a:spAutoFit/>
          </a:bodyPr>
          <a:lstStyle/>
          <a:p>
            <a:pPr algn="ctr" marL="604519" indent="-302260" lvl="1">
              <a:lnSpc>
                <a:spcPts val="3919"/>
              </a:lnSpc>
              <a:buFont typeface="Arial"/>
              <a:buChar char="•"/>
            </a:pPr>
            <a:r>
              <a:rPr lang="en-US" b="true" sz="2799">
                <a:solidFill>
                  <a:srgbClr val="000000"/>
                </a:solidFill>
                <a:latin typeface="Canva Sans Bold"/>
                <a:ea typeface="Canva Sans Bold"/>
                <a:cs typeface="Canva Sans Bold"/>
                <a:sym typeface="Canva Sans Bold"/>
              </a:rPr>
              <a:t>Kelola Pembayaran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493232" y="865775"/>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4771549" y="1088864"/>
            <a:ext cx="8744903" cy="1244388"/>
          </a:xfrm>
          <a:prstGeom prst="rect">
            <a:avLst/>
          </a:prstGeom>
        </p:spPr>
        <p:txBody>
          <a:bodyPr anchor="t" rtlCol="false" tIns="0" lIns="0" bIns="0" rIns="0">
            <a:spAutoFit/>
          </a:bodyPr>
          <a:lstStyle/>
          <a:p>
            <a:pPr algn="ctr">
              <a:lnSpc>
                <a:spcPts val="9111"/>
              </a:lnSpc>
              <a:spcBef>
                <a:spcPct val="0"/>
              </a:spcBef>
            </a:pPr>
            <a:r>
              <a:rPr lang="en-US" sz="6508">
                <a:solidFill>
                  <a:srgbClr val="000000"/>
                </a:solidFill>
                <a:latin typeface="Kaftus"/>
                <a:ea typeface="Kaftus"/>
                <a:cs typeface="Kaftus"/>
                <a:sym typeface="Kaftus"/>
              </a:rPr>
              <a:t>Repository GitHub</a:t>
            </a:r>
          </a:p>
        </p:txBody>
      </p:sp>
      <p:sp>
        <p:nvSpPr>
          <p:cNvPr name="TextBox 11" id="11"/>
          <p:cNvSpPr txBox="true"/>
          <p:nvPr/>
        </p:nvSpPr>
        <p:spPr>
          <a:xfrm rot="0">
            <a:off x="3486858" y="2738987"/>
            <a:ext cx="11807515" cy="6519313"/>
          </a:xfrm>
          <a:prstGeom prst="rect">
            <a:avLst/>
          </a:prstGeom>
        </p:spPr>
        <p:txBody>
          <a:bodyPr anchor="t" rtlCol="false" tIns="0" lIns="0" bIns="0" rIns="0">
            <a:spAutoFit/>
          </a:bodyPr>
          <a:lstStyle/>
          <a:p>
            <a:pPr algn="just">
              <a:lnSpc>
                <a:spcPts val="3225"/>
              </a:lnSpc>
            </a:pPr>
            <a:r>
              <a:rPr lang="en-US" sz="2303">
                <a:solidFill>
                  <a:srgbClr val="000000"/>
                </a:solidFill>
                <a:latin typeface="Sniglet"/>
                <a:ea typeface="Sniglet"/>
                <a:cs typeface="Sniglet"/>
                <a:sym typeface="Sniglet"/>
              </a:rPr>
              <a:t>Proyek Washly Go Laundry dikelola menggunakan GitHub untuk menyimpan dan mengatur seluruh dokumen pengembangan sistem secara terpusat.</a:t>
            </a:r>
          </a:p>
          <a:p>
            <a:pPr algn="just">
              <a:lnSpc>
                <a:spcPts val="3225"/>
              </a:lnSpc>
            </a:pPr>
          </a:p>
          <a:p>
            <a:pPr algn="just" marL="497422" indent="-248711" lvl="1">
              <a:lnSpc>
                <a:spcPts val="3225"/>
              </a:lnSpc>
              <a:buFont typeface="Arial"/>
              <a:buChar char="•"/>
            </a:pPr>
            <a:r>
              <a:rPr lang="en-US" sz="2303">
                <a:solidFill>
                  <a:srgbClr val="000000"/>
                </a:solidFill>
                <a:latin typeface="Sniglet"/>
                <a:ea typeface="Sniglet"/>
                <a:cs typeface="Sniglet"/>
                <a:sym typeface="Sniglet"/>
              </a:rPr>
              <a:t>Organization: washly-go</a:t>
            </a:r>
          </a:p>
          <a:p>
            <a:pPr algn="just" marL="497422" indent="-248711" lvl="1">
              <a:lnSpc>
                <a:spcPts val="3225"/>
              </a:lnSpc>
              <a:buFont typeface="Arial"/>
              <a:buChar char="•"/>
            </a:pPr>
            <a:r>
              <a:rPr lang="en-US" sz="2303" u="sng">
                <a:solidFill>
                  <a:srgbClr val="000000"/>
                </a:solidFill>
                <a:latin typeface="Sniglet"/>
                <a:ea typeface="Sniglet"/>
                <a:cs typeface="Sniglet"/>
                <a:sym typeface="Sniglet"/>
                <a:hlinkClick r:id="rId6" tooltip="https://github.com/Washly-go"/>
              </a:rPr>
              <a:t>https://github.com/Washly-go</a:t>
            </a:r>
          </a:p>
          <a:p>
            <a:pPr algn="just" marL="497422" indent="-248711" lvl="1">
              <a:lnSpc>
                <a:spcPts val="3225"/>
              </a:lnSpc>
              <a:buFont typeface="Arial"/>
              <a:buChar char="•"/>
            </a:pPr>
            <a:r>
              <a:rPr lang="en-US" sz="2303">
                <a:solidFill>
                  <a:srgbClr val="000000"/>
                </a:solidFill>
                <a:latin typeface="Sniglet"/>
                <a:ea typeface="Sniglet"/>
                <a:cs typeface="Sniglet"/>
                <a:sym typeface="Sniglet"/>
              </a:rPr>
              <a:t>Repository Dokumen: Washly-Go-Documentation</a:t>
            </a:r>
          </a:p>
          <a:p>
            <a:pPr algn="just" marL="497422" indent="-248711" lvl="1">
              <a:lnSpc>
                <a:spcPts val="3225"/>
              </a:lnSpc>
              <a:buFont typeface="Arial"/>
              <a:buChar char="•"/>
            </a:pPr>
            <a:r>
              <a:rPr lang="en-US" sz="2303" u="sng">
                <a:solidFill>
                  <a:srgbClr val="000000"/>
                </a:solidFill>
                <a:latin typeface="Sniglet"/>
                <a:ea typeface="Sniglet"/>
                <a:cs typeface="Sniglet"/>
                <a:sym typeface="Sniglet"/>
                <a:hlinkClick r:id="rId7" tooltip="https://github.com/Washly-go/Washly-Go-Documentation"/>
              </a:rPr>
              <a:t>https://github.com/Washly-go/Washly-Go-Documentation</a:t>
            </a:r>
          </a:p>
          <a:p>
            <a:pPr algn="just">
              <a:lnSpc>
                <a:spcPts val="3225"/>
              </a:lnSpc>
            </a:pPr>
          </a:p>
          <a:p>
            <a:pPr algn="just">
              <a:lnSpc>
                <a:spcPts val="3225"/>
              </a:lnSpc>
            </a:pPr>
            <a:r>
              <a:rPr lang="en-US" sz="2303">
                <a:solidFill>
                  <a:srgbClr val="000000"/>
                </a:solidFill>
                <a:latin typeface="Sniglet"/>
                <a:ea typeface="Sniglet"/>
                <a:cs typeface="Sniglet"/>
                <a:sym typeface="Sniglet"/>
              </a:rPr>
              <a:t>Isi Repository:</a:t>
            </a:r>
          </a:p>
          <a:p>
            <a:pPr algn="just" marL="994844" indent="-331615" lvl="2">
              <a:lnSpc>
                <a:spcPts val="3225"/>
              </a:lnSpc>
              <a:buFont typeface="Arial"/>
              <a:buChar char="⚬"/>
            </a:pPr>
            <a:r>
              <a:rPr lang="en-US" sz="2303">
                <a:solidFill>
                  <a:srgbClr val="000000"/>
                </a:solidFill>
                <a:latin typeface="Sniglet"/>
                <a:ea typeface="Sniglet"/>
                <a:cs typeface="Sniglet"/>
                <a:sym typeface="Sniglet"/>
              </a:rPr>
              <a:t>Dokumen SRS (Software Requirements Specification)</a:t>
            </a:r>
          </a:p>
          <a:p>
            <a:pPr algn="just" marL="994844" indent="-331615" lvl="2">
              <a:lnSpc>
                <a:spcPts val="3225"/>
              </a:lnSpc>
              <a:buFont typeface="Arial"/>
              <a:buChar char="⚬"/>
            </a:pPr>
            <a:r>
              <a:rPr lang="en-US" sz="2303">
                <a:solidFill>
                  <a:srgbClr val="000000"/>
                </a:solidFill>
                <a:latin typeface="Sniglet"/>
                <a:ea typeface="Sniglet"/>
                <a:cs typeface="Sniglet"/>
                <a:sym typeface="Sniglet"/>
              </a:rPr>
              <a:t>Diagram UML (Use Case, Activity, Sequence, dll.)</a:t>
            </a:r>
          </a:p>
          <a:p>
            <a:pPr algn="just" marL="994844" indent="-331615" lvl="2">
              <a:lnSpc>
                <a:spcPts val="3225"/>
              </a:lnSpc>
              <a:buFont typeface="Arial"/>
              <a:buChar char="⚬"/>
            </a:pPr>
            <a:r>
              <a:rPr lang="en-US" sz="2303">
                <a:solidFill>
                  <a:srgbClr val="000000"/>
                </a:solidFill>
                <a:latin typeface="Sniglet"/>
                <a:ea typeface="Sniglet"/>
                <a:cs typeface="Sniglet"/>
                <a:sym typeface="Sniglet"/>
              </a:rPr>
              <a:t>Mockup / desain antarmuka</a:t>
            </a:r>
          </a:p>
          <a:p>
            <a:pPr algn="just" marL="994844" indent="-331615" lvl="2">
              <a:lnSpc>
                <a:spcPts val="3225"/>
              </a:lnSpc>
              <a:buFont typeface="Arial"/>
              <a:buChar char="⚬"/>
            </a:pPr>
            <a:r>
              <a:rPr lang="en-US" sz="2303">
                <a:solidFill>
                  <a:srgbClr val="000000"/>
                </a:solidFill>
                <a:latin typeface="Sniglet"/>
                <a:ea typeface="Sniglet"/>
                <a:cs typeface="Sniglet"/>
                <a:sym typeface="Sniglet"/>
              </a:rPr>
              <a:t>Dokumen pendukung proyek lainnya</a:t>
            </a:r>
          </a:p>
          <a:p>
            <a:pPr algn="just">
              <a:lnSpc>
                <a:spcPts val="3225"/>
              </a:lnSpc>
            </a:pPr>
            <a:r>
              <a:rPr lang="en-US" sz="2303">
                <a:solidFill>
                  <a:srgbClr val="000000"/>
                </a:solidFill>
                <a:latin typeface="Sniglet"/>
                <a:ea typeface="Sniglet"/>
                <a:cs typeface="Sniglet"/>
                <a:sym typeface="Sniglet"/>
              </a:rPr>
              <a:t>Repository bersifat public sehingga dapat diakses untuk keperluan penilaian dan dokumentasi proyek.</a:t>
            </a:r>
          </a:p>
          <a:p>
            <a:pPr algn="just">
              <a:lnSpc>
                <a:spcPts val="3225"/>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493232" y="865775"/>
            <a:ext cx="17794768" cy="10014306"/>
            <a:chOff x="0" y="0"/>
            <a:chExt cx="23726357" cy="13352408"/>
          </a:xfrm>
        </p:grpSpPr>
        <p:sp>
          <p:nvSpPr>
            <p:cNvPr name="Freeform 4" id="4"/>
            <p:cNvSpPr/>
            <p:nvPr/>
          </p:nvSpPr>
          <p:spPr>
            <a:xfrm flipH="false" flipV="false" rot="0">
              <a:off x="0" y="276329"/>
              <a:ext cx="14354976" cy="13076078"/>
            </a:xfrm>
            <a:custGeom>
              <a:avLst/>
              <a:gdLst/>
              <a:ahLst/>
              <a:cxnLst/>
              <a:rect r="r" b="b" t="t" l="l"/>
              <a:pathLst>
                <a:path h="13076078" w="14354976">
                  <a:moveTo>
                    <a:pt x="0" y="0"/>
                  </a:moveTo>
                  <a:lnTo>
                    <a:pt x="14354976" y="0"/>
                  </a:lnTo>
                  <a:lnTo>
                    <a:pt x="14354976" y="13076079"/>
                  </a:lnTo>
                  <a:lnTo>
                    <a:pt x="0" y="130760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371381" y="0"/>
              <a:ext cx="14354976" cy="13076078"/>
            </a:xfrm>
            <a:custGeom>
              <a:avLst/>
              <a:gdLst/>
              <a:ahLst/>
              <a:cxnLst/>
              <a:rect r="r" b="b" t="t" l="l"/>
              <a:pathLst>
                <a:path h="13076078" w="14354976">
                  <a:moveTo>
                    <a:pt x="0" y="0"/>
                  </a:moveTo>
                  <a:lnTo>
                    <a:pt x="14354976" y="0"/>
                  </a:lnTo>
                  <a:lnTo>
                    <a:pt x="14354976" y="13076078"/>
                  </a:lnTo>
                  <a:lnTo>
                    <a:pt x="0" y="130760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52152" y="466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7" id="7"/>
            <p:cNvSpPr/>
            <p:nvPr/>
          </p:nvSpPr>
          <p:spPr>
            <a:xfrm flipH="false" flipV="false" rot="0">
              <a:off x="21992952" y="0"/>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8" id="8"/>
            <p:cNvSpPr/>
            <p:nvPr/>
          </p:nvSpPr>
          <p:spPr>
            <a:xfrm flipH="false" flipV="false" rot="0">
              <a:off x="219929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sp>
          <p:nvSpPr>
            <p:cNvPr name="Freeform 9" id="9"/>
            <p:cNvSpPr/>
            <p:nvPr/>
          </p:nvSpPr>
          <p:spPr>
            <a:xfrm flipH="false" flipV="false" rot="0">
              <a:off x="352152" y="11019438"/>
              <a:ext cx="1389183" cy="1370081"/>
            </a:xfrm>
            <a:custGeom>
              <a:avLst/>
              <a:gdLst/>
              <a:ahLst/>
              <a:cxnLst/>
              <a:rect r="r" b="b" t="t" l="l"/>
              <a:pathLst>
                <a:path h="1370081" w="1389183">
                  <a:moveTo>
                    <a:pt x="0" y="0"/>
                  </a:moveTo>
                  <a:lnTo>
                    <a:pt x="1389182" y="0"/>
                  </a:lnTo>
                  <a:lnTo>
                    <a:pt x="1389182" y="1370081"/>
                  </a:lnTo>
                  <a:lnTo>
                    <a:pt x="0" y="1370081"/>
                  </a:lnTo>
                  <a:lnTo>
                    <a:pt x="0" y="0"/>
                  </a:lnTo>
                  <a:close/>
                </a:path>
              </a:pathLst>
            </a:custGeom>
            <a:blipFill>
              <a:blip r:embed="rId5"/>
              <a:stretch>
                <a:fillRect l="0" t="0" r="0" b="0"/>
              </a:stretch>
            </a:blipFill>
          </p:spPr>
        </p:sp>
      </p:grpSp>
      <p:sp>
        <p:nvSpPr>
          <p:cNvPr name="TextBox 10" id="10"/>
          <p:cNvSpPr txBox="true"/>
          <p:nvPr/>
        </p:nvSpPr>
        <p:spPr>
          <a:xfrm rot="0">
            <a:off x="6238280" y="1088864"/>
            <a:ext cx="5811441" cy="1244388"/>
          </a:xfrm>
          <a:prstGeom prst="rect">
            <a:avLst/>
          </a:prstGeom>
        </p:spPr>
        <p:txBody>
          <a:bodyPr anchor="t" rtlCol="false" tIns="0" lIns="0" bIns="0" rIns="0">
            <a:spAutoFit/>
          </a:bodyPr>
          <a:lstStyle/>
          <a:p>
            <a:pPr algn="ctr">
              <a:lnSpc>
                <a:spcPts val="9111"/>
              </a:lnSpc>
              <a:spcBef>
                <a:spcPct val="0"/>
              </a:spcBef>
            </a:pPr>
            <a:r>
              <a:rPr lang="en-US" sz="6508">
                <a:solidFill>
                  <a:srgbClr val="000000"/>
                </a:solidFill>
                <a:latin typeface="Kaftus"/>
                <a:ea typeface="Kaftus"/>
                <a:cs typeface="Kaftus"/>
                <a:sym typeface="Kaftus"/>
              </a:rPr>
              <a:t>Kesimpulan</a:t>
            </a:r>
          </a:p>
        </p:txBody>
      </p:sp>
      <p:sp>
        <p:nvSpPr>
          <p:cNvPr name="TextBox 11" id="11"/>
          <p:cNvSpPr txBox="true"/>
          <p:nvPr/>
        </p:nvSpPr>
        <p:spPr>
          <a:xfrm rot="0">
            <a:off x="2866295" y="2957040"/>
            <a:ext cx="12555410" cy="4325295"/>
          </a:xfrm>
          <a:prstGeom prst="rect">
            <a:avLst/>
          </a:prstGeom>
        </p:spPr>
        <p:txBody>
          <a:bodyPr anchor="t" rtlCol="false" tIns="0" lIns="0" bIns="0" rIns="0">
            <a:spAutoFit/>
          </a:bodyPr>
          <a:lstStyle/>
          <a:p>
            <a:pPr algn="just">
              <a:lnSpc>
                <a:spcPts val="3429"/>
              </a:lnSpc>
            </a:pPr>
            <a:r>
              <a:rPr lang="en-US" sz="2449">
                <a:solidFill>
                  <a:srgbClr val="000000"/>
                </a:solidFill>
                <a:latin typeface="Sniglet"/>
                <a:ea typeface="Sniglet"/>
                <a:cs typeface="Sniglet"/>
                <a:sym typeface="Sniglet"/>
              </a:rPr>
              <a:t>Berdasarkan hasil analisis dan perancangan yang telah dilakukan, dapat disimpulkan bahwa aplikasi E-Laundry Washly Go Laundry dirancang untuk membantu proses pengelolaan layanan laundry yang sebelumnya dilakukan secara manual. Sistem ini mampu mendukung proses pemesanan, pembayaran, serta monitoring status pesanan secara terkomputerisasi.</a:t>
            </a:r>
          </a:p>
          <a:p>
            <a:pPr algn="just">
              <a:lnSpc>
                <a:spcPts val="3429"/>
              </a:lnSpc>
            </a:pPr>
            <a:r>
              <a:rPr lang="en-US" sz="2449">
                <a:solidFill>
                  <a:srgbClr val="000000"/>
                </a:solidFill>
                <a:latin typeface="Sniglet"/>
                <a:ea typeface="Sniglet"/>
                <a:cs typeface="Sniglet"/>
                <a:sym typeface="Sniglet"/>
              </a:rPr>
              <a:t>Dengan adanya aplikasi ini, diharapkan dapat mempermudah customer dan admin dalam mengelola layanan laundry, meningkatkan efisiensi kerja, serta meminimalkan kesalahan pencatatan data. Aplikasi Washly Go Laundry juga memiliki potensi untuk dikembangkan lebih lanjut sesuai dengan kebutuhan pengguna di masa mendatang.</a:t>
            </a:r>
          </a:p>
          <a:p>
            <a:pPr algn="just">
              <a:lnSpc>
                <a:spcPts val="3429"/>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618524" y="3086126"/>
            <a:ext cx="3281553" cy="8229600"/>
          </a:xfrm>
          <a:custGeom>
            <a:avLst/>
            <a:gdLst/>
            <a:ahLst/>
            <a:cxnLst/>
            <a:rect r="r" b="b" t="t" l="l"/>
            <a:pathLst>
              <a:path h="8229600" w="3281553">
                <a:moveTo>
                  <a:pt x="0" y="0"/>
                </a:moveTo>
                <a:lnTo>
                  <a:pt x="3281553" y="0"/>
                </a:lnTo>
                <a:lnTo>
                  <a:pt x="3281553"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0" y="6609168"/>
            <a:ext cx="16384206" cy="13435049"/>
          </a:xfrm>
          <a:custGeom>
            <a:avLst/>
            <a:gdLst/>
            <a:ahLst/>
            <a:cxnLst/>
            <a:rect r="r" b="b" t="t" l="l"/>
            <a:pathLst>
              <a:path h="13435049" w="16384206">
                <a:moveTo>
                  <a:pt x="0" y="0"/>
                </a:moveTo>
                <a:lnTo>
                  <a:pt x="16384206" y="0"/>
                </a:lnTo>
                <a:lnTo>
                  <a:pt x="16384206" y="13435049"/>
                </a:lnTo>
                <a:lnTo>
                  <a:pt x="0" y="13435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110927" y="1188469"/>
            <a:ext cx="8162353" cy="7910062"/>
          </a:xfrm>
          <a:custGeom>
            <a:avLst/>
            <a:gdLst/>
            <a:ahLst/>
            <a:cxnLst/>
            <a:rect r="r" b="b" t="t" l="l"/>
            <a:pathLst>
              <a:path h="7910062" w="8162353">
                <a:moveTo>
                  <a:pt x="0" y="0"/>
                </a:moveTo>
                <a:lnTo>
                  <a:pt x="8162353" y="0"/>
                </a:lnTo>
                <a:lnTo>
                  <a:pt x="8162353" y="7910062"/>
                </a:lnTo>
                <a:lnTo>
                  <a:pt x="0" y="7910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6218" y="5377535"/>
            <a:ext cx="2905802" cy="1823391"/>
          </a:xfrm>
          <a:custGeom>
            <a:avLst/>
            <a:gdLst/>
            <a:ahLst/>
            <a:cxnLst/>
            <a:rect r="r" b="b" t="t" l="l"/>
            <a:pathLst>
              <a:path h="1823391" w="2905802">
                <a:moveTo>
                  <a:pt x="0" y="0"/>
                </a:moveTo>
                <a:lnTo>
                  <a:pt x="2905802" y="0"/>
                </a:lnTo>
                <a:lnTo>
                  <a:pt x="2905802" y="1823391"/>
                </a:lnTo>
                <a:lnTo>
                  <a:pt x="0" y="1823391"/>
                </a:lnTo>
                <a:lnTo>
                  <a:pt x="0" y="0"/>
                </a:lnTo>
                <a:close/>
              </a:path>
            </a:pathLst>
          </a:custGeom>
          <a:blipFill>
            <a:blip r:embed="rId8"/>
            <a:stretch>
              <a:fillRect l="0" t="0" r="0" b="0"/>
            </a:stretch>
          </a:blipFill>
        </p:spPr>
      </p:sp>
      <p:sp>
        <p:nvSpPr>
          <p:cNvPr name="Freeform 7" id="7"/>
          <p:cNvSpPr/>
          <p:nvPr/>
        </p:nvSpPr>
        <p:spPr>
          <a:xfrm flipH="false" flipV="false" rot="0">
            <a:off x="435964" y="3665147"/>
            <a:ext cx="2820508" cy="4114800"/>
          </a:xfrm>
          <a:custGeom>
            <a:avLst/>
            <a:gdLst/>
            <a:ahLst/>
            <a:cxnLst/>
            <a:rect r="r" b="b" t="t" l="l"/>
            <a:pathLst>
              <a:path h="4114800" w="2820508">
                <a:moveTo>
                  <a:pt x="0" y="0"/>
                </a:moveTo>
                <a:lnTo>
                  <a:pt x="2820508" y="0"/>
                </a:lnTo>
                <a:lnTo>
                  <a:pt x="2820508"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2420457" y="5438389"/>
            <a:ext cx="3050889" cy="2341557"/>
          </a:xfrm>
          <a:custGeom>
            <a:avLst/>
            <a:gdLst/>
            <a:ahLst/>
            <a:cxnLst/>
            <a:rect r="r" b="b" t="t" l="l"/>
            <a:pathLst>
              <a:path h="2341557" w="3050889">
                <a:moveTo>
                  <a:pt x="0" y="0"/>
                </a:moveTo>
                <a:lnTo>
                  <a:pt x="3050889" y="0"/>
                </a:lnTo>
                <a:lnTo>
                  <a:pt x="3050889" y="2341558"/>
                </a:lnTo>
                <a:lnTo>
                  <a:pt x="0" y="2341558"/>
                </a:lnTo>
                <a:lnTo>
                  <a:pt x="0" y="0"/>
                </a:lnTo>
                <a:close/>
              </a:path>
            </a:pathLst>
          </a:custGeom>
          <a:blipFill>
            <a:blip r:embed="rId11"/>
            <a:stretch>
              <a:fillRect l="0" t="0" r="0" b="0"/>
            </a:stretch>
          </a:blipFill>
        </p:spPr>
      </p:sp>
      <p:sp>
        <p:nvSpPr>
          <p:cNvPr name="Freeform 9" id="9"/>
          <p:cNvSpPr/>
          <p:nvPr/>
        </p:nvSpPr>
        <p:spPr>
          <a:xfrm flipH="false" flipV="false" rot="0">
            <a:off x="3042953" y="5722547"/>
            <a:ext cx="1345008" cy="2057374"/>
          </a:xfrm>
          <a:custGeom>
            <a:avLst/>
            <a:gdLst/>
            <a:ahLst/>
            <a:cxnLst/>
            <a:rect r="r" b="b" t="t" l="l"/>
            <a:pathLst>
              <a:path h="2057374" w="1345008">
                <a:moveTo>
                  <a:pt x="0" y="0"/>
                </a:moveTo>
                <a:lnTo>
                  <a:pt x="1345008" y="0"/>
                </a:lnTo>
                <a:lnTo>
                  <a:pt x="1345008" y="2057373"/>
                </a:lnTo>
                <a:lnTo>
                  <a:pt x="0" y="2057373"/>
                </a:lnTo>
                <a:lnTo>
                  <a:pt x="0" y="0"/>
                </a:lnTo>
                <a:close/>
              </a:path>
            </a:pathLst>
          </a:custGeom>
          <a:blipFill>
            <a:blip r:embed="rId12"/>
            <a:stretch>
              <a:fillRect l="0" t="0" r="0" b="0"/>
            </a:stretch>
          </a:blipFill>
        </p:spPr>
      </p:sp>
      <p:sp>
        <p:nvSpPr>
          <p:cNvPr name="Freeform 10" id="10"/>
          <p:cNvSpPr/>
          <p:nvPr/>
        </p:nvSpPr>
        <p:spPr>
          <a:xfrm flipH="false" flipV="false" rot="0">
            <a:off x="0" y="-16145"/>
            <a:ext cx="6155248" cy="703333"/>
          </a:xfrm>
          <a:custGeom>
            <a:avLst/>
            <a:gdLst/>
            <a:ahLst/>
            <a:cxnLst/>
            <a:rect r="r" b="b" t="t" l="l"/>
            <a:pathLst>
              <a:path h="703333" w="6155248">
                <a:moveTo>
                  <a:pt x="0" y="0"/>
                </a:moveTo>
                <a:lnTo>
                  <a:pt x="6155248" y="0"/>
                </a:lnTo>
                <a:lnTo>
                  <a:pt x="6155248" y="703333"/>
                </a:lnTo>
                <a:lnTo>
                  <a:pt x="0" y="703333"/>
                </a:lnTo>
                <a:lnTo>
                  <a:pt x="0" y="0"/>
                </a:lnTo>
                <a:close/>
              </a:path>
            </a:pathLst>
          </a:custGeom>
          <a:blipFill>
            <a:blip r:embed="rId13"/>
            <a:stretch>
              <a:fillRect l="0" t="-6338" r="0" b="-6338"/>
            </a:stretch>
          </a:blipFill>
        </p:spPr>
      </p:sp>
      <p:sp>
        <p:nvSpPr>
          <p:cNvPr name="Freeform 11" id="11"/>
          <p:cNvSpPr/>
          <p:nvPr/>
        </p:nvSpPr>
        <p:spPr>
          <a:xfrm flipH="false" flipV="false" rot="0">
            <a:off x="6118032" y="0"/>
            <a:ext cx="6155248" cy="703333"/>
          </a:xfrm>
          <a:custGeom>
            <a:avLst/>
            <a:gdLst/>
            <a:ahLst/>
            <a:cxnLst/>
            <a:rect r="r" b="b" t="t" l="l"/>
            <a:pathLst>
              <a:path h="703333" w="6155248">
                <a:moveTo>
                  <a:pt x="0" y="0"/>
                </a:moveTo>
                <a:lnTo>
                  <a:pt x="6155248" y="0"/>
                </a:lnTo>
                <a:lnTo>
                  <a:pt x="6155248" y="703333"/>
                </a:lnTo>
                <a:lnTo>
                  <a:pt x="0" y="703333"/>
                </a:lnTo>
                <a:lnTo>
                  <a:pt x="0" y="0"/>
                </a:lnTo>
                <a:close/>
              </a:path>
            </a:pathLst>
          </a:custGeom>
          <a:blipFill>
            <a:blip r:embed="rId13"/>
            <a:stretch>
              <a:fillRect l="0" t="-6338" r="0" b="-6338"/>
            </a:stretch>
          </a:blipFill>
        </p:spPr>
      </p:sp>
      <p:sp>
        <p:nvSpPr>
          <p:cNvPr name="Freeform 12" id="12"/>
          <p:cNvSpPr/>
          <p:nvPr/>
        </p:nvSpPr>
        <p:spPr>
          <a:xfrm flipH="false" flipV="false" rot="0">
            <a:off x="12236065" y="16145"/>
            <a:ext cx="6155248" cy="703333"/>
          </a:xfrm>
          <a:custGeom>
            <a:avLst/>
            <a:gdLst/>
            <a:ahLst/>
            <a:cxnLst/>
            <a:rect r="r" b="b" t="t" l="l"/>
            <a:pathLst>
              <a:path h="703333" w="6155248">
                <a:moveTo>
                  <a:pt x="0" y="0"/>
                </a:moveTo>
                <a:lnTo>
                  <a:pt x="6155247" y="0"/>
                </a:lnTo>
                <a:lnTo>
                  <a:pt x="6155247" y="703333"/>
                </a:lnTo>
                <a:lnTo>
                  <a:pt x="0" y="703333"/>
                </a:lnTo>
                <a:lnTo>
                  <a:pt x="0" y="0"/>
                </a:lnTo>
                <a:close/>
              </a:path>
            </a:pathLst>
          </a:custGeom>
          <a:blipFill>
            <a:blip r:embed="rId13"/>
            <a:stretch>
              <a:fillRect l="0" t="-6338" r="0" b="-6338"/>
            </a:stretch>
          </a:blipFill>
        </p:spPr>
      </p:sp>
      <p:sp>
        <p:nvSpPr>
          <p:cNvPr name="TextBox 13" id="13"/>
          <p:cNvSpPr txBox="true"/>
          <p:nvPr/>
        </p:nvSpPr>
        <p:spPr>
          <a:xfrm rot="0">
            <a:off x="4955626" y="1977009"/>
            <a:ext cx="6922020" cy="3044159"/>
          </a:xfrm>
          <a:prstGeom prst="rect">
            <a:avLst/>
          </a:prstGeom>
        </p:spPr>
        <p:txBody>
          <a:bodyPr anchor="t" rtlCol="false" tIns="0" lIns="0" bIns="0" rIns="0">
            <a:spAutoFit/>
          </a:bodyPr>
          <a:lstStyle/>
          <a:p>
            <a:pPr algn="ctr">
              <a:lnSpc>
                <a:spcPts val="11604"/>
              </a:lnSpc>
              <a:spcBef>
                <a:spcPct val="0"/>
              </a:spcBef>
            </a:pPr>
            <a:r>
              <a:rPr lang="en-US" sz="8289">
                <a:solidFill>
                  <a:srgbClr val="000000"/>
                </a:solidFill>
                <a:latin typeface="Kaftus"/>
                <a:ea typeface="Kaftus"/>
                <a:cs typeface="Kaftus"/>
                <a:sym typeface="Kaftus"/>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DAG-6qFxByI</dc:identifier>
  <dcterms:modified xsi:type="dcterms:W3CDTF">2011-08-01T06:04:30Z</dcterms:modified>
  <cp:revision>1</cp:revision>
  <dc:title>e-laundry Washly go</dc:title>
</cp:coreProperties>
</file>